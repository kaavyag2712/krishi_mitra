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</p:embeddedFont>
    <p:embeddedFont>
      <p:font typeface="Inter Medium" panose="020B0604020202020204" charset="0"/>
      <p:regular r:id="rId16"/>
    </p:embeddedFont>
    <p:embeddedFont>
      <p:font typeface="Inter SemiBold" panose="020B0604020202020204" charset="0"/>
      <p:regular r:id="rId17"/>
      <p:bold r:id="rId18"/>
    </p:embeddedFont>
    <p:embeddedFont>
      <p:font typeface="OpenAI Sans" panose="020B060402020202020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235" autoAdjust="0"/>
  </p:normalViewPr>
  <p:slideViewPr>
    <p:cSldViewPr snapToGrid="0">
      <p:cViewPr varScale="1">
        <p:scale>
          <a:sx n="73" d="100"/>
          <a:sy n="73" d="100"/>
        </p:scale>
        <p:origin x="104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Opening: KrishiMitra combines a crop health classifier with an agriculture chatbot.</a:t>
            </a:r>
          </a:p>
          <a:p>
            <a:r>
              <a:t>The walkthrough follows the real request path from the browser to FastAPI, AI services and PostgreSQL.</a:t>
            </a:r>
          </a:p>
          <a:p>
            <a:r>
              <a:t>The team divides the presentation equally across frontend, machine learning and backend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Shared architecture: React never runs the model and never sees the Gemini key.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FastAPI coordinates validation, inference, generation and database writes.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PostgreSQL stores prediction metadata and chatbot history. Docker runs the PostgreSQL and pgvector service.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Screenshot source: the local KrishiMitra frontend at http://127.0.0.1:5173.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Contribution: Member 1 explains the complete browser-side application in frontend/src/App.tsx.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React useState stores selected views, files, questions, messages and loading state. useMemo creates the local image preview.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VITE_API_BASE_URL controls the backend address. The default points to http://127.0.0.1:8000/api/v1.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Live flow: choose the expected crop, select an image, inspect the preview and click Analyse leaf.</a:t>
            </a:r>
          </a:p>
          <a:p>
            <a:r>
              <a:t>The crop hint does not force a class. The backend compares it with the crop encoded in the predicted label.</a:t>
            </a:r>
          </a:p>
          <a:p>
            <a:r>
              <a:t>Confidence below 0.75 becomes review-only. A crop mismatch must not be used as a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Contribution summary for Member 1: interface components, form handling, file preview, typed responses, API calls and user-facing warnings.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chatbot sends JSON to /api/v1/advisor/chat. The first response returns a conversation ID, which React sends with later questions.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frontend production build uses tsc -b followed by vite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Contribution: Member 2 explains data/prepare_plantvillage.py, data/create_splits.py and the training script.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Class balance varies. Macro-F1 therefore matters because it gives each class equal weight.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test set remains separate until the final evaluation, which avoids test-data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MobileNetV2 starts with ImageNet weights. Transfer learning reuses general visual features such as edges and textures.</a:t>
            </a:r>
          </a:p>
          <a:p>
            <a:r>
              <a:t>Training uses CrossEntropyLoss and AdamW. The head learning rate is 0.001, then fine-tuning uses 0.0001.</a:t>
            </a:r>
          </a:p>
          <a:p>
            <a:r>
              <a:t>Augmentation includes random resized crop, horizontal flip, rotation and colour jitter. Evaluation uses resize and center crop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Best validation macro-F1: 99.16 percent. Test accuracy: 98.68 percent. Test macro-F1: 98.63 percent.</a:t>
            </a:r>
          </a:p>
          <a:p>
            <a:r>
              <a:t>CPU latency p50: 40.85 ms. CPU latency p95: 43.52 ms.</a:t>
            </a:r>
          </a:p>
          <a:p>
            <a:r>
              <a:t>Important limitation: the model only compares ten known classes. It cannot confirm unsupported diseases such as Northern Leaf Blight.</a:t>
            </a:r>
          </a:p>
          <a:p>
            <a:r>
              <a:t>Source: docs/model_registry/mobilenetv2-10class-v1.json.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Contribution: Member 3 explains FastAPI, Pydantic, SQLAlchemy, Gemini and infrastructure.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GET /api/v1/health checks readiness. POST /api/v1/health/predict receives multipart image data. POST /api/v1/advisor/chat receives JSON.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FastAPI validates requests, calls the relevant service, writes metadata through SQLAlchemy and returns a typed response.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CORS permits the Vite frontend at localhost or 127.0.0.1 on port 5173.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Docker Compose runs pgvector/pgvector:pg16 with a persistent volume and a readiness check.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Alembic creates the prediction, conversation and future vector-document tables, then adds the HNSW cosine index.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Gemini API key stays in backend/.env and never enters React or Git. The active text model is gemini-3.6-flash.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Startup sequence: check prerequisites, start the database, wait for readiness, apply migrations, launch FastAPI, then launch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summary: the frontend captures user intent, FastAPI coordinates the workflow, MobileNetV2 and Gemini provide the AI functions, and PostgreSQL records traceable outputs.</a:t>
            </a:r>
          </a:p>
          <a:p>
            <a:r>
              <a:t>Current limitations: PlantVillage results do not prove field accuracy. Gemini answers require verification for pesticide and high-risk decisions. The chatbot does not yet use citation-grounded retrieval.</a:t>
            </a:r>
          </a:p>
          <a:p>
            <a:r>
              <a:t>End with the live URLs: website at http://localhost:5173 and API docs at http://127.0.0.1:8000/docs.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48">
          <p15:clr>
            <a:srgbClr val="F26B43"/>
          </p15:clr>
        </p15:guide>
        <p15:guide id="4" pos="1264">
          <p15:clr>
            <a:srgbClr val="F26B43"/>
          </p15:clr>
        </p15:guide>
        <p15:guide id="5" pos="1480">
          <p15:clr>
            <a:srgbClr val="F26B43"/>
          </p15:clr>
        </p15:guide>
        <p15:guide id="6" pos="2496">
          <p15:clr>
            <a:srgbClr val="F26B43"/>
          </p15:clr>
        </p15:guide>
        <p15:guide id="7" pos="2712">
          <p15:clr>
            <a:srgbClr val="F26B43"/>
          </p15:clr>
        </p15:guide>
        <p15:guide id="8" pos="3736">
          <p15:clr>
            <a:srgbClr val="F26B43"/>
          </p15:clr>
        </p15:guide>
        <p15:guide id="9" pos="3944">
          <p15:clr>
            <a:srgbClr val="F26B43"/>
          </p15:clr>
        </p15:guide>
        <p15:guide id="10" pos="4968">
          <p15:clr>
            <a:srgbClr val="F26B43"/>
          </p15:clr>
        </p15:guide>
        <p15:guide id="11" pos="5184">
          <p15:clr>
            <a:srgbClr val="F26B43"/>
          </p15:clr>
        </p15:guide>
        <p15:guide id="12" pos="6200">
          <p15:clr>
            <a:srgbClr val="F26B43"/>
          </p15:clr>
        </p15:guide>
        <p15:guide id="13" pos="6416">
          <p15:clr>
            <a:srgbClr val="F26B43"/>
          </p15:clr>
        </p15:guide>
        <p15:guide id="14" pos="7432">
          <p15:clr>
            <a:srgbClr val="F26B43"/>
          </p15:clr>
        </p15:guide>
        <p15:guide id="15" orient="horz">
          <p15:clr>
            <a:srgbClr val="F26B43"/>
          </p15:clr>
        </p15:guide>
        <p15:guide id="17" orient="horz" pos="248">
          <p15:clr>
            <a:srgbClr val="F26B43"/>
          </p15:clr>
        </p15:guide>
        <p15:guide id="18" orient="horz" pos="656">
          <p15:clr>
            <a:srgbClr val="F26B43"/>
          </p15:clr>
        </p15:guide>
        <p15:guide id="19" orient="horz" pos="872">
          <p15:clr>
            <a:srgbClr val="F26B43"/>
          </p15:clr>
        </p15:guide>
        <p15:guide id="20" orient="horz" pos="1280">
          <p15:clr>
            <a:srgbClr val="F26B43"/>
          </p15:clr>
        </p15:guide>
        <p15:guide id="21" orient="horz" pos="1496">
          <p15:clr>
            <a:srgbClr val="F26B43"/>
          </p15:clr>
        </p15:guide>
        <p15:guide id="22" orient="horz" pos="1904">
          <p15:clr>
            <a:srgbClr val="F26B43"/>
          </p15:clr>
        </p15:guide>
        <p15:guide id="23" orient="horz" pos="2120">
          <p15:clr>
            <a:srgbClr val="F26B43"/>
          </p15:clr>
        </p15:guide>
        <p15:guide id="24" orient="horz" pos="2528">
          <p15:clr>
            <a:srgbClr val="F26B43"/>
          </p15:clr>
        </p15:guide>
        <p15:guide id="25" orient="horz" pos="2744">
          <p15:clr>
            <a:srgbClr val="F26B43"/>
          </p15:clr>
        </p15:guide>
        <p15:guide id="26" orient="horz" pos="3152">
          <p15:clr>
            <a:srgbClr val="F26B43"/>
          </p15:clr>
        </p15:guide>
        <p15:guide id="27" orient="horz" pos="3368">
          <p15:clr>
            <a:srgbClr val="F26B43"/>
          </p15:clr>
        </p15:guide>
        <p15:guide id="28" orient="horz" pos="3776">
          <p15:clr>
            <a:srgbClr val="F26B43"/>
          </p15:clr>
        </p15:guide>
        <p15:guide id="29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066174"/>
            <a:ext cx="9448800" cy="2203686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sz="7200">
                <a:solidFill>
                  <a:srgbClr val="BCEF59"/>
                </a:solidFill>
              </a:rPr>
              <a:t>KrishiMitra</a:t>
            </a:r>
          </a:p>
          <a:p>
            <a:pPr algn="ctr">
              <a:buNone/>
            </a:pPr>
            <a:r>
              <a:rPr sz="7200">
                <a:solidFill>
                  <a:srgbClr val="BCEF59"/>
                </a:solidFill>
              </a:rPr>
              <a:t>Technical Walkthrough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noGrp="1"/>
          </p:cNvSpPr>
          <p:nvPr/>
        </p:nvSpPr>
        <p:spPr>
          <a:xfrm>
            <a:off x="2461605" y="4874716"/>
            <a:ext cx="7267329" cy="691197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2200" dirty="0">
                <a:latin typeface="Inter Medium"/>
                <a:ea typeface="Inter Medium"/>
                <a:cs typeface="Inter Medium"/>
              </a:rPr>
              <a:t>Frontend, MobileNetV2, chatbot, backend and Docker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4393902-CF74-AC35-55A9-910ABBD4C9FD}"/>
              </a:ext>
            </a:extLst>
          </p:cNvPr>
          <p:cNvSpPr>
            <a:spLocks noGrp="1"/>
          </p:cNvSpPr>
          <p:nvPr/>
        </p:nvSpPr>
        <p:spPr>
          <a:xfrm>
            <a:off x="4793262" y="456930"/>
            <a:ext cx="2604013" cy="488816"/>
          </a:xfrm>
          <a:prstGeom prst="roundRect">
            <a:avLst>
              <a:gd name="adj" fmla="val 50000"/>
            </a:avLst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600" b="1" dirty="0">
                <a:solidFill>
                  <a:schemeClr val="tx1"/>
                </a:solidFill>
                <a:latin typeface="Inter SemiBold"/>
                <a:ea typeface="Inter SemiBold"/>
                <a:cs typeface="Inter SemiBold"/>
              </a:rPr>
              <a:t>CAPSTONE PROJECT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rPr/>
              <a:t>2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spcFirstLastPara="1" vert="horz" wrap="square" lIns="0" tIns="0" rIns="0" bIns="0" anchor="t">
            <a:noAutofit/>
          </a:bodyPr>
          <a:lstStyle/>
          <a:p>
            <a:r>
              <a:t>System architecture</a:t>
            </a:r>
          </a:p>
        </p:txBody>
      </p:sp>
      <p:pic>
        <p:nvPicPr>
          <p:cNvPr id="538" name="Picture 3"/>
          <p:cNvPicPr>
            <a:picLocks noChangeAspect="1"/>
          </p:cNvPicPr>
          <p:nvPr/>
        </p:nvPicPr>
        <p:blipFill>
          <a:blip r:embed="rId3"/>
          <a:srcRect l="556" r="556"/>
          <a:stretch>
            <a:fillRect/>
          </a:stretch>
        </p:blipFill>
        <p:spPr>
          <a:xfrm>
            <a:off x="6269040" y="396409"/>
            <a:ext cx="5539740" cy="5602070"/>
          </a:xfrm>
          <a:prstGeom prst="roundRect">
            <a:avLst/>
          </a:prstGeom>
        </p:spPr>
      </p:pic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D4EE2969-B7C7-0C70-E299-B866E67DBC36}"/>
              </a:ext>
            </a:extLst>
          </p:cNvPr>
          <p:cNvSpPr>
            <a:spLocks noGrp="1"/>
          </p:cNvSpPr>
          <p:nvPr/>
        </p:nvSpPr>
        <p:spPr>
          <a:xfrm>
            <a:off x="393700" y="1684867"/>
            <a:ext cx="5537200" cy="1744133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BCEF59"/>
                </a:solidFill>
                <a:latin typeface="Inter"/>
                <a:ea typeface="Inter"/>
                <a:cs typeface="Inter"/>
              </a:rPr>
              <a:t>Crop health path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00">
                <a:latin typeface="Inter"/>
                <a:ea typeface="Inter"/>
                <a:cs typeface="Inter"/>
              </a:rPr>
              <a:t>React sends an image and crop hint. FastAPI validates the file, MobileNetV2 predicts one of ten labels, and PostgreSQL records the scan.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72A34455-41AC-E436-D08C-DBCA262EF4C8}"/>
              </a:ext>
            </a:extLst>
          </p:cNvPr>
          <p:cNvSpPr>
            <a:spLocks noGrp="1"/>
          </p:cNvSpPr>
          <p:nvPr/>
        </p:nvSpPr>
        <p:spPr>
          <a:xfrm>
            <a:off x="393700" y="3855855"/>
            <a:ext cx="5537200" cy="1744133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BCEF59"/>
                </a:solidFill>
                <a:latin typeface="Inter"/>
                <a:ea typeface="Inter"/>
                <a:cs typeface="Inter"/>
              </a:rPr>
              <a:t>Chatbot path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00">
                <a:latin typeface="Inter"/>
                <a:ea typeface="Inter"/>
                <a:cs typeface="Inter"/>
              </a:rPr>
              <a:t>React sends a question and conversation ID. FastAPI adds recent context, Gemini 3.6 Flash generates the answer, and PostgreSQL stores the exchange.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rPr/>
              <a:t>3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spcFirstLastPara="1" vert="horz" wrap="square" lIns="0" tIns="0" rIns="0" bIns="0" anchor="t">
            <a:noAutofit/>
          </a:bodyPr>
          <a:lstStyle/>
          <a:p>
            <a:r>
              <a:t>Member 1: Frontend stack and responsibilities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React + TypeScript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Inter"/>
                <a:ea typeface="Inter"/>
                <a:cs typeface="Inter"/>
              </a:rPr>
              <a:t>Single-page views, typed API responses and local component state control the user experience.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Fetch + React Query</a:t>
            </a:r>
          </a:p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latin typeface="Inter"/>
                <a:ea typeface="Inter"/>
                <a:cs typeface="Inter"/>
              </a:rPr>
              <a:t>Fetch sends requests. React Query checks API health every 15 seconds. Loading and error states guide the user.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Vite + Tailwind CSS</a:t>
            </a:r>
          </a:p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latin typeface="Inter"/>
                <a:ea typeface="Inter"/>
                <a:cs typeface="Inter"/>
              </a:rPr>
              <a:t>Vite provides the local server and production build. Tailwind creates responsive layouts and warning states.</a:t>
            </a:r>
          </a:p>
        </p:txBody>
      </p:sp>
      <p:sp>
        <p:nvSpPr>
          <p:cNvPr id="7" name="Content Placeholder 15">
            <a:extLst>
              <a:ext uri="{FF2B5EF4-FFF2-40B4-BE49-F238E27FC236}">
                <a16:creationId xmlns:a16="http://schemas.microsoft.com/office/drawing/2014/main" id="{DD72B81A-AC75-C1B0-4313-7B84D70521A7}"/>
              </a:ext>
            </a:extLst>
          </p:cNvPr>
          <p:cNvSpPr>
            <a:spLocks noGrp="1"/>
          </p:cNvSpPr>
          <p:nvPr/>
        </p:nvSpPr>
        <p:spPr>
          <a:xfrm>
            <a:off x="393700" y="2763754"/>
            <a:ext cx="1612900" cy="2624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FOUNDATION</a:t>
            </a:r>
          </a:p>
        </p:txBody>
      </p:sp>
      <p:sp>
        <p:nvSpPr>
          <p:cNvPr id="8" name="Content Placeholder 15">
            <a:extLst>
              <a:ext uri="{FF2B5EF4-FFF2-40B4-BE49-F238E27FC236}">
                <a16:creationId xmlns:a16="http://schemas.microsoft.com/office/drawing/2014/main" id="{5200B2E2-6D19-9AFE-1E8D-518E55CC26ED}"/>
              </a:ext>
            </a:extLst>
          </p:cNvPr>
          <p:cNvSpPr>
            <a:spLocks noGrp="1"/>
          </p:cNvSpPr>
          <p:nvPr/>
        </p:nvSpPr>
        <p:spPr>
          <a:xfrm>
            <a:off x="4294187" y="2763754"/>
            <a:ext cx="1612900" cy="2624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DEVELOPMENT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4611C1F-A471-6B24-C785-2D7A5B5DD6BA}"/>
              </a:ext>
            </a:extLst>
          </p:cNvPr>
          <p:cNvSpPr>
            <a:spLocks noGrp="1"/>
          </p:cNvSpPr>
          <p:nvPr/>
        </p:nvSpPr>
        <p:spPr>
          <a:xfrm>
            <a:off x="8223249" y="2763754"/>
            <a:ext cx="1612900" cy="2624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INTEGRATION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188" y="6278563"/>
            <a:ext cx="519112" cy="241300"/>
          </a:xfrm>
        </p:spPr>
        <p:txBody>
          <a:bodyPr/>
          <a:lstStyle/>
          <a:p>
            <a:fld id="{00000000-1234-1234-1234-123412341234}" type="slidenum">
              <a:rPr/>
              <a:t>4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t>Crop health interface states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2032000"/>
            <a:ext cx="5537200" cy="1643063"/>
          </a:xfrm>
        </p:spPr>
        <p:txBody>
          <a:bodyPr/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BCEF59"/>
                </a:solidFill>
              </a:rPr>
              <a:t>Input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</a:rPr>
              <a:t>The user selects Tomato, Potato, Maize or Grape and previews a PNG, JPG or WebP leaf image.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56618" y="2032000"/>
            <a:ext cx="5537200" cy="1643063"/>
          </a:xfrm>
        </p:spPr>
        <p:txBody>
          <a:bodyPr/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BCEF59"/>
                </a:solidFill>
              </a:rPr>
              <a:t>Request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</a:rPr>
              <a:t>FormData sends image and crop_hint to POST /api/v1/health/predict.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noGrp="1"/>
          </p:cNvSpPr>
          <p:nvPr/>
        </p:nvSpPr>
        <p:spPr>
          <a:xfrm>
            <a:off x="393700" y="4016975"/>
            <a:ext cx="5537200" cy="1643185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BCEF59"/>
                </a:solidFill>
              </a:rPr>
              <a:t>Validated result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The page shows label, confidence, model version, detected crop and supported conditions.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noGrp="1"/>
          </p:cNvSpPr>
          <p:nvPr/>
        </p:nvSpPr>
        <p:spPr>
          <a:xfrm>
            <a:off x="6256618" y="4016975"/>
            <a:ext cx="5537200" cy="1643185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BCEF59"/>
                </a:solidFill>
              </a:rPr>
              <a:t>Safety state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Low confidence, crop mismatch and invalid images receive clear review or rejection messages.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rPr/>
              <a:t>5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Chatbot interface and live demo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0388" y="179792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Browser responsibilities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The UI sends questions and conversation IDs. It never handles the Gemini key.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noGrp="1"/>
          </p:cNvSpPr>
          <p:nvPr/>
        </p:nvSpPr>
        <p:spPr>
          <a:xfrm>
            <a:off x="508375" y="4688128"/>
            <a:ext cx="4774279" cy="2060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700" b="0" i="0" u="none" cap="none" spc="0" dirty="0">
                <a:ln>
                  <a:noFill/>
                </a:ln>
              </a:rPr>
              <a:t>Messages appear as user and assistant bubbles. The loading state blocks duplicate requests, while backend errors appear without exposing provider secrets.</a:t>
            </a:r>
            <a:endParaRPr sz="1700" b="0" i="0" u="none" kern="1200" cap="none" spc="0" baseline="0" dirty="0">
              <a:ln>
                <a:noFill/>
              </a:ln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D611070-583D-3F58-C192-8939D876E8A5}"/>
              </a:ext>
            </a:extLst>
          </p:cNvPr>
          <p:cNvSpPr>
            <a:spLocks noGrp="1"/>
          </p:cNvSpPr>
          <p:nvPr/>
        </p:nvSpPr>
        <p:spPr>
          <a:xfrm>
            <a:off x="6264413" y="1722438"/>
            <a:ext cx="5533887" cy="1638300"/>
          </a:xfrm>
          <a:prstGeom prst="roundRect">
            <a:avLst>
              <a:gd name="adj" fmla="val 3585"/>
            </a:avLst>
          </a:prstGeom>
          <a:solidFill>
            <a:srgbClr val="2846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176A6DA9-A945-2CB8-E1DA-17DA3035FD4C}"/>
              </a:ext>
            </a:extLst>
          </p:cNvPr>
          <p:cNvSpPr>
            <a:spLocks noGrp="1"/>
          </p:cNvSpPr>
          <p:nvPr/>
        </p:nvSpPr>
        <p:spPr>
          <a:xfrm>
            <a:off x="6561648" y="2017370"/>
            <a:ext cx="4986886" cy="1048436"/>
          </a:xfrm>
          <a:prstGeom prst="rect">
            <a:avLst/>
          </a:prstGeom>
        </p:spPr>
        <p:txBody>
          <a:bodyPr vert="horz" lIns="0" tIns="0" rIns="0" bIns="0">
            <a:normAutofit lnSpcReduction="2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 dirty="0"/>
              <a:t>Demo 1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 dirty="0"/>
              <a:t>Upload a leaf and explain the preview, result details and safety warnings.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99370F-1C2A-C7A9-A2D7-8EC8D6F73423}"/>
              </a:ext>
            </a:extLst>
          </p:cNvPr>
          <p:cNvSpPr>
            <a:spLocks noGrp="1"/>
          </p:cNvSpPr>
          <p:nvPr/>
        </p:nvSpPr>
        <p:spPr>
          <a:xfrm>
            <a:off x="6264413" y="3734118"/>
            <a:ext cx="5533887" cy="1638300"/>
          </a:xfrm>
          <a:prstGeom prst="roundRect">
            <a:avLst>
              <a:gd name="adj" fmla="val 3585"/>
            </a:avLst>
          </a:prstGeom>
          <a:solidFill>
            <a:srgbClr val="2846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BB779E3-29A4-71DB-4059-EE4248BE7003}"/>
              </a:ext>
            </a:extLst>
          </p:cNvPr>
          <p:cNvSpPr>
            <a:spLocks noGrp="1"/>
          </p:cNvSpPr>
          <p:nvPr/>
        </p:nvSpPr>
        <p:spPr>
          <a:xfrm>
            <a:off x="6561648" y="4029050"/>
            <a:ext cx="4986886" cy="1048436"/>
          </a:xfrm>
          <a:prstGeom prst="rect">
            <a:avLst/>
          </a:prstGeom>
        </p:spPr>
        <p:txBody>
          <a:bodyPr vert="horz" lIns="0" tIns="0" rIns="0" bIns="0">
            <a:normAutofit lnSpcReduction="2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/>
              <a:t>Demo 2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Ask one farming question, then ask a follow-up that reuses the conversation ID.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rPr/>
              <a:t>6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Member 2: Data processing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noGrp="1"/>
          </p:cNvSpPr>
          <p:nvPr/>
        </p:nvSpPr>
        <p:spPr>
          <a:xfrm>
            <a:off x="6972300" y="2374901"/>
            <a:ext cx="4826000" cy="6477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prepare_plantvillage.py converts source folder names into the project label scheme.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noGrp="1"/>
          </p:cNvSpPr>
          <p:nvPr/>
        </p:nvSpPr>
        <p:spPr>
          <a:xfrm>
            <a:off x="4851400" y="2374901"/>
            <a:ext cx="1866900" cy="6477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Class mapping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noGrp="1"/>
          </p:cNvSpPr>
          <p:nvPr/>
        </p:nvSpPr>
        <p:spPr>
          <a:xfrm>
            <a:off x="6972300" y="3365501"/>
            <a:ext cx="4826000" cy="6477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Seed 20260912 creates the same stratified 70, 15 and 15 percent split.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noGrp="1"/>
          </p:cNvSpPr>
          <p:nvPr/>
        </p:nvSpPr>
        <p:spPr>
          <a:xfrm>
            <a:off x="4851400" y="3365501"/>
            <a:ext cx="1866900" cy="6477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Reproducible split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noGrp="1"/>
          </p:cNvSpPr>
          <p:nvPr/>
        </p:nvSpPr>
        <p:spPr>
          <a:xfrm>
            <a:off x="6972300" y="4356101"/>
            <a:ext cx="4826000" cy="6477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7,427 images teach the classifier weights with random augmentation.</a:t>
            </a: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noGrp="1"/>
          </p:cNvSpPr>
          <p:nvPr/>
        </p:nvSpPr>
        <p:spPr>
          <a:xfrm>
            <a:off x="4851400" y="4356101"/>
            <a:ext cx="1866900" cy="6477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Training set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noGrp="1"/>
          </p:cNvSpPr>
          <p:nvPr/>
        </p:nvSpPr>
        <p:spPr>
          <a:xfrm>
            <a:off x="6972300" y="5359401"/>
            <a:ext cx="4826000" cy="6477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1,591 validation and 1,591 test images support selection and final evaluation.</a:t>
            </a:r>
          </a:p>
        </p:txBody>
      </p:sp>
      <p:sp>
        <p:nvSpPr>
          <p:cNvPr id="21" name="Content Placeholder 10">
            <a:extLst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noGrp="1"/>
          </p:cNvSpPr>
          <p:nvPr/>
        </p:nvSpPr>
        <p:spPr>
          <a:xfrm>
            <a:off x="4851400" y="5359401"/>
            <a:ext cx="1866900" cy="6477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Holdout sets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noGrp="1"/>
          </p:cNvSpPr>
          <p:nvPr/>
        </p:nvSpPr>
        <p:spPr>
          <a:xfrm>
            <a:off x="393700" y="2374901"/>
            <a:ext cx="35687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Inter Medium"/>
                <a:ea typeface="Inter Medium"/>
                <a:cs typeface="Inter Medium"/>
              </a:rPr>
              <a:t>PlantVillage subset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Inter Medium"/>
                <a:ea typeface="Inter Medium"/>
                <a:cs typeface="Inter Medium"/>
              </a:rPr>
              <a:t>10 labels cover healthy and selected disease classes for Tomato, Potato, Maize and Grape. Source folders map to fixed canonical labels and class indices.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6FC0B29-995A-397B-C2F3-07F01F976246}"/>
              </a:ext>
            </a:extLst>
          </p:cNvPr>
          <p:cNvSpPr>
            <a:spLocks noGrp="1"/>
          </p:cNvSpPr>
          <p:nvPr/>
        </p:nvSpPr>
        <p:spPr>
          <a:xfrm>
            <a:off x="7833152" y="2134181"/>
            <a:ext cx="3568700" cy="3709944"/>
          </a:xfrm>
          <a:prstGeom prst="roundRect">
            <a:avLst>
              <a:gd name="adj" fmla="val 3585"/>
            </a:avLst>
          </a:prstGeom>
          <a:solidFill>
            <a:srgbClr val="2846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8574A810-7A8E-054F-9F6B-09E9C694ECF9}" type="slidenum">
              <a:rPr/>
              <a:t>7</a:t>
            </a:fld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t>MobileNetV2 training lifecycle</a:t>
            </a:r>
          </a:p>
        </p:txBody>
      </p:sp>
      <p:cxnSp>
        <p:nvCxnSpPr>
          <p:cNvPr id="24" name="Google Shape;2259;p159"/>
          <p:cNvCxnSpPr>
            <a:cxnSpLocks/>
          </p:cNvCxnSpPr>
          <p:nvPr/>
        </p:nvCxnSpPr>
        <p:spPr>
          <a:xfrm>
            <a:off x="52583" y="3341156"/>
            <a:ext cx="12139417" cy="0"/>
          </a:xfrm>
          <a:prstGeom prst="straightConnector1">
            <a:avLst/>
          </a:prstGeom>
          <a:ln w="12700" cap="flat">
            <a:solidFill>
              <a:srgbClr val="BCEF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noGrp="1"/>
          </p:cNvSpPr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rgbClr val="BCEF59"/>
          </a:solidFill>
          <a:ln>
            <a:solidFill>
              <a:srgbClr val="BCEF59"/>
            </a:solidFill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noGrp="1"/>
          </p:cNvSpPr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rgbClr val="BCEF59"/>
          </a:solidFill>
          <a:ln>
            <a:solidFill>
              <a:srgbClr val="BCEF59"/>
            </a:solidFill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noGrp="1"/>
          </p:cNvSpPr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rgbClr val="BCEF59"/>
          </a:solidFill>
          <a:ln>
            <a:solidFill>
              <a:srgbClr val="BCEF59"/>
            </a:solidFill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noGrp="1"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STAGE 1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noGrp="1"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STAGE 2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noGrp="1"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STAGE 3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noGrp="1"/>
          </p:cNvSpPr>
          <p:nvPr/>
        </p:nvSpPr>
        <p:spPr>
          <a:xfrm>
            <a:off x="4317118" y="3822700"/>
            <a:ext cx="3156125" cy="1586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Train classifier head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Freeze the feature extractor and train the new 10-class head for 3 epochs.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noGrp="1"/>
          </p:cNvSpPr>
          <p:nvPr/>
        </p:nvSpPr>
        <p:spPr>
          <a:xfrm>
            <a:off x="399873" y="3822700"/>
            <a:ext cx="3156125" cy="1586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Prepare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Convert to RGB, build labels and load the deterministic manifest.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noGrp="1"/>
          </p:cNvSpPr>
          <p:nvPr/>
        </p:nvSpPr>
        <p:spPr>
          <a:xfrm>
            <a:off x="8177917" y="3822700"/>
            <a:ext cx="3156125" cy="1586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Fine-tune and evaluate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Unfreeze the final four feature blocks for 7 epochs. Select by validation macro-F1, then test once.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noGrp="1"/>
          </p:cNvSpPr>
          <p:nvPr/>
        </p:nvSpPr>
        <p:spPr>
          <a:xfrm>
            <a:off x="393700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rgbClr val="2846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noGrp="1"/>
          </p:cNvSpPr>
          <p:nvPr/>
        </p:nvSpPr>
        <p:spPr>
          <a:xfrm>
            <a:off x="4311650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rgbClr val="2846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noGrp="1"/>
          </p:cNvSpPr>
          <p:nvPr/>
        </p:nvSpPr>
        <p:spPr>
          <a:xfrm>
            <a:off x="8232297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rgbClr val="2846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/>
              <a:t>8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2413" y="4900613"/>
            <a:ext cx="2949575" cy="819150"/>
          </a:xfrm>
        </p:spPr>
        <p:txBody>
          <a:bodyPr>
            <a:norm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Independent test accuracy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541859" y="4900613"/>
            <a:ext cx="2949575" cy="819150"/>
          </a:xfrm>
        </p:spPr>
        <p:txBody>
          <a:bodyPr>
            <a:norm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Median CPU inference latency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21211" y="4900613"/>
            <a:ext cx="2949575" cy="819150"/>
          </a:xfrm>
        </p:spPr>
        <p:txBody>
          <a:bodyPr>
            <a:norm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Test macro-F1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noGrp="1"/>
          </p:cNvSpPr>
          <p:nvPr/>
        </p:nvSpPr>
        <p:spPr>
          <a:xfrm>
            <a:off x="702413" y="3429000"/>
            <a:ext cx="2940124" cy="1359356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6600" b="0" i="0" u="none" cap="none" spc="0" dirty="0">
                <a:ln>
                  <a:noFill/>
                </a:ln>
                <a:solidFill>
                  <a:srgbClr val="BCEF59"/>
                </a:solidFill>
                <a:latin typeface="Helvetica Neue"/>
                <a:ea typeface="Helvetica Neue"/>
                <a:cs typeface="Helvetica Neue"/>
              </a:rPr>
              <a:t>98.68%</a:t>
            </a:r>
            <a:endParaRPr sz="6600" dirty="0">
              <a:solidFill>
                <a:srgbClr val="BCEF59"/>
              </a:solidFill>
            </a:endParaRP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noGrp="1"/>
          </p:cNvSpPr>
          <p:nvPr/>
        </p:nvSpPr>
        <p:spPr>
          <a:xfrm>
            <a:off x="4612932" y="3429000"/>
            <a:ext cx="2940124" cy="1359356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6600" b="0" i="0" u="none" cap="none" spc="0" dirty="0">
                <a:ln>
                  <a:noFill/>
                </a:ln>
                <a:solidFill>
                  <a:srgbClr val="BCEF59"/>
                </a:solidFill>
                <a:latin typeface="Helvetica Neue"/>
                <a:ea typeface="Helvetica Neue"/>
                <a:cs typeface="Helvetica Neue"/>
              </a:rPr>
              <a:t>98.63%</a:t>
            </a:r>
            <a:endParaRPr sz="6600" dirty="0">
              <a:solidFill>
                <a:srgbClr val="BCEF59"/>
              </a:solidFill>
            </a:endParaRP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noGrp="1"/>
          </p:cNvSpPr>
          <p:nvPr/>
        </p:nvSpPr>
        <p:spPr>
          <a:xfrm>
            <a:off x="8562362" y="3429000"/>
            <a:ext cx="2940124" cy="1359356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400" b="0" i="0" u="none" cap="none" spc="0" dirty="0">
                <a:ln>
                  <a:noFill/>
                </a:ln>
                <a:solidFill>
                  <a:srgbClr val="BCEF59"/>
                </a:solidFill>
                <a:latin typeface="Helvetica Neue"/>
                <a:ea typeface="Helvetica Neue"/>
                <a:cs typeface="Helvetica Neue"/>
              </a:rPr>
              <a:t>40.85 </a:t>
            </a:r>
            <a:r>
              <a:rPr sz="4800" b="0" i="0" u="none" cap="none" spc="0" dirty="0" err="1">
                <a:ln>
                  <a:noFill/>
                </a:ln>
                <a:solidFill>
                  <a:srgbClr val="BCEF59"/>
                </a:solidFill>
                <a:latin typeface="Helvetica Neue"/>
                <a:ea typeface="Helvetica Neue"/>
                <a:cs typeface="Helvetica Neue"/>
              </a:rPr>
              <a:t>ms</a:t>
            </a:r>
            <a:endParaRPr sz="4800" dirty="0">
              <a:solidFill>
                <a:srgbClr val="BCEF59"/>
              </a:solidFill>
            </a:endParaRP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noGrp="1"/>
          </p:cNvSpPr>
          <p:nvPr/>
        </p:nvSpPr>
        <p:spPr>
          <a:xfrm>
            <a:off x="393700" y="1138300"/>
            <a:ext cx="11404599" cy="1599406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Controlled PlantVillage benchmark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The best checkpoint uses validation macro-F1. Independent test metrics measure classification quality, while CPU latency measures local inference speed. These figures do not establish accuracy on field photographs.</a:t>
            </a:r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rPr/>
              <a:t>9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792557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Member 3: FastAPI request pipelines</a:t>
            </a:r>
          </a:p>
        </p:txBody>
      </p:sp>
      <p:graphicFrame>
        <p:nvGraphicFramePr>
          <p:cNvPr id="538" name="Google Shape;953;p80"/>
          <p:cNvGraphicFramePr/>
          <p:nvPr/>
        </p:nvGraphicFramePr>
        <p:xfrm>
          <a:off x="393699" y="1245705"/>
          <a:ext cx="11404600" cy="4722192"/>
        </p:xfrm>
        <a:graphic>
          <a:graphicData uri="http://schemas.openxmlformats.org/drawingml/2006/table">
            <a:tbl>
              <a:tblPr/>
              <a:tblGrid>
                <a:gridCol w="2280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22192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Browser</a:t>
                      </a: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FastAPI</a:t>
                      </a: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AI service</a:t>
                      </a: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PostgreSQL</a:t>
                      </a: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Response</a:t>
                      </a: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Google Shape;955;p80">
            <a:extLst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>
            <a:spLocks noGrp="1"/>
          </p:cNvSpPr>
          <p:nvPr/>
        </p:nvSpPr>
        <p:spPr>
          <a:xfrm>
            <a:off x="4721718" y="4107740"/>
            <a:ext cx="4562665" cy="5133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210300" tIns="121875" rIns="121875" bIns="121875" anchor="ctr">
            <a:noAutofit/>
          </a:bodyPr>
          <a:lstStyle/>
          <a:p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Gemini chat + context</a:t>
            </a:r>
          </a:p>
        </p:txBody>
      </p:sp>
      <p:sp>
        <p:nvSpPr>
          <p:cNvPr id="6" name="Google Shape;957;p80">
            <a:extLst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>
            <a:spLocks noGrp="1"/>
          </p:cNvSpPr>
          <p:nvPr/>
        </p:nvSpPr>
        <p:spPr>
          <a:xfrm>
            <a:off x="584093" y="5478390"/>
            <a:ext cx="11026708" cy="513300"/>
          </a:xfrm>
          <a:prstGeom prst="roundRect">
            <a:avLst>
              <a:gd name="adj" fmla="val 50000"/>
            </a:avLst>
          </a:prstGeom>
          <a:solidFill>
            <a:srgbClr val="284638"/>
          </a:solidFill>
          <a:ln>
            <a:noFill/>
          </a:ln>
        </p:spPr>
        <p:txBody>
          <a:bodyPr spcFirstLastPara="1" wrap="square" lIns="210300" tIns="121875" rIns="121875" bIns="121875" anchor="ctr">
            <a:noAutofit/>
          </a:bodyPr>
          <a:lstStyle/>
          <a:p>
            <a:r>
              <a:rPr sz="1500" b="1">
                <a:latin typeface="Inter SemiBold"/>
                <a:ea typeface="Inter SemiBold"/>
                <a:cs typeface="Inter SemiBold"/>
              </a:rPr>
              <a:t>Transactions commit on success and roll back on failure</a:t>
            </a:r>
          </a:p>
        </p:txBody>
      </p:sp>
      <p:sp>
        <p:nvSpPr>
          <p:cNvPr id="7" name="Google Shape;960;p80">
            <a:extLst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>
            <a:spLocks noGrp="1"/>
          </p:cNvSpPr>
          <p:nvPr/>
        </p:nvSpPr>
        <p:spPr>
          <a:xfrm>
            <a:off x="7522794" y="4754965"/>
            <a:ext cx="4088008" cy="513300"/>
          </a:xfrm>
          <a:prstGeom prst="roundRect">
            <a:avLst>
              <a:gd name="adj" fmla="val 50000"/>
            </a:avLst>
          </a:prstGeom>
          <a:solidFill>
            <a:srgbClr val="BCEF59"/>
          </a:solidFill>
          <a:ln>
            <a:noFill/>
          </a:ln>
        </p:spPr>
        <p:txBody>
          <a:bodyPr spcFirstLastPara="1" wrap="square" lIns="210300" tIns="121875" rIns="121875" bIns="121875" anchor="ctr">
            <a:noAutofit/>
          </a:bodyPr>
          <a:lstStyle/>
          <a:p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Persist + return JSON</a:t>
            </a:r>
          </a:p>
        </p:txBody>
      </p:sp>
      <p:sp>
        <p:nvSpPr>
          <p:cNvPr id="8" name="Google Shape;963;p80">
            <a:extLst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>
            <a:spLocks noGrp="1"/>
          </p:cNvSpPr>
          <p:nvPr/>
        </p:nvSpPr>
        <p:spPr>
          <a:xfrm>
            <a:off x="2819968" y="3403140"/>
            <a:ext cx="8790833" cy="5133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210300" tIns="121875" rIns="121875" bIns="121875" anchor="ctr">
            <a:noAutofit/>
          </a:bodyPr>
          <a:lstStyle/>
          <a:p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Validation + MobileNetV2</a:t>
            </a:r>
          </a:p>
        </p:txBody>
      </p:sp>
      <p:sp>
        <p:nvSpPr>
          <p:cNvPr id="9" name="Google Shape;966;p80">
            <a:extLst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>
            <a:spLocks noGrp="1"/>
          </p:cNvSpPr>
          <p:nvPr/>
        </p:nvSpPr>
        <p:spPr>
          <a:xfrm>
            <a:off x="2819968" y="2698515"/>
            <a:ext cx="6408538" cy="5133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210300" tIns="121875" rIns="121875" bIns="121875" anchor="ctr">
            <a:noAutofit/>
          </a:bodyPr>
          <a:lstStyle/>
          <a:p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Leaf upload + crop hint</a:t>
            </a:r>
          </a:p>
        </p:txBody>
      </p:sp>
      <p:sp>
        <p:nvSpPr>
          <p:cNvPr id="10" name="Google Shape;969;p80">
            <a:extLst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>
            <a:spLocks noGrp="1"/>
          </p:cNvSpPr>
          <p:nvPr/>
        </p:nvSpPr>
        <p:spPr>
          <a:xfrm>
            <a:off x="507893" y="1975090"/>
            <a:ext cx="4185180" cy="513300"/>
          </a:xfrm>
          <a:prstGeom prst="roundRect">
            <a:avLst>
              <a:gd name="adj" fmla="val 50000"/>
            </a:avLst>
          </a:prstGeom>
          <a:solidFill>
            <a:srgbClr val="BCEF59"/>
          </a:solidFill>
          <a:ln>
            <a:noFill/>
          </a:ln>
        </p:spPr>
        <p:txBody>
          <a:bodyPr spcFirstLastPara="1" wrap="square" lIns="210300" tIns="121875" rIns="121875" bIns="121875" anchor="ctr">
            <a:noAutofit/>
          </a:bodyPr>
          <a:lstStyle/>
          <a:p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Health check</a:t>
            </a:r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AD97F9EA-012C-21EB-B59E-E7F4EA1900F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10AF45DF-4338-2F83-4089-BDD95813165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rPr/>
              <a:t>10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E4D2BBD2-B9DC-C05C-151C-46086B5BA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Database, Docker and startup</a:t>
            </a:r>
          </a:p>
        </p:txBody>
      </p:sp>
      <p:graphicFrame>
        <p:nvGraphicFramePr>
          <p:cNvPr id="538" name="Google Shape;953;p80"/>
          <p:cNvGraphicFramePr/>
          <p:nvPr/>
        </p:nvGraphicFramePr>
        <p:xfrm>
          <a:off x="393700" y="822085"/>
          <a:ext cx="11404600" cy="5350115"/>
        </p:xfrm>
        <a:graphic>
          <a:graphicData uri="http://schemas.openxmlformats.org/drawingml/2006/table">
            <a:tbl>
              <a:tblPr/>
              <a:tblGrid>
                <a:gridCol w="2280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9963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Docker</a:t>
                      </a: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PostgreSQL</a:t>
                      </a: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Alembic</a:t>
                      </a: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Secrets</a:t>
                      </a: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Demo</a:t>
                      </a: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Google Shape;969;p80">
            <a:extLst>
              <a:ext uri="{FF2B5EF4-FFF2-40B4-BE49-F238E27FC236}">
                <a16:creationId xmlns:a16="http://schemas.microsoft.com/office/drawing/2014/main" id="{A122CFB3-561F-F57A-0D76-5F64F78E6566}"/>
              </a:ext>
            </a:extLst>
          </p:cNvPr>
          <p:cNvSpPr>
            <a:spLocks noGrp="1"/>
          </p:cNvSpPr>
          <p:nvPr/>
        </p:nvSpPr>
        <p:spPr>
          <a:xfrm>
            <a:off x="535946" y="1633394"/>
            <a:ext cx="2004054" cy="339939"/>
          </a:xfrm>
          <a:prstGeom prst="roundRect">
            <a:avLst>
              <a:gd name="adj" fmla="val 50000"/>
            </a:avLst>
          </a:prstGeom>
          <a:solidFill>
            <a:srgbClr val="BCEF59"/>
          </a:solidFill>
          <a:ln>
            <a:noFill/>
          </a:ln>
        </p:spPr>
        <p:txBody>
          <a:bodyPr spcFirstLastPara="1" wrap="square" lIns="118872" tIns="121875" rIns="121875" bIns="121875" anchor="ctr">
            <a:noAutofit/>
          </a:bodyPr>
          <a:lstStyle/>
          <a:p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compose up</a:t>
            </a:r>
          </a:p>
        </p:txBody>
      </p:sp>
      <p:sp>
        <p:nvSpPr>
          <p:cNvPr id="5" name="Google Shape;969;p80">
            <a:extLst>
              <a:ext uri="{FF2B5EF4-FFF2-40B4-BE49-F238E27FC236}">
                <a16:creationId xmlns:a16="http://schemas.microsoft.com/office/drawing/2014/main" id="{C931B0DD-E0CC-3A4D-1652-DEF41244CC5E}"/>
              </a:ext>
            </a:extLst>
          </p:cNvPr>
          <p:cNvSpPr>
            <a:spLocks noGrp="1"/>
          </p:cNvSpPr>
          <p:nvPr/>
        </p:nvSpPr>
        <p:spPr>
          <a:xfrm>
            <a:off x="9667875" y="2039779"/>
            <a:ext cx="2004060" cy="339947"/>
          </a:xfrm>
          <a:prstGeom prst="roundRect">
            <a:avLst>
              <a:gd name="adj" fmla="val 50000"/>
            </a:avLst>
          </a:prstGeom>
          <a:solidFill>
            <a:srgbClr val="BCEF59"/>
          </a:solidFill>
          <a:ln>
            <a:noFill/>
          </a:ln>
        </p:spPr>
        <p:txBody>
          <a:bodyPr spcFirstLastPara="1" wrap="square" lIns="118872" tIns="121875" rIns="121875" bIns="121875" anchor="ctr">
            <a:noAutofit/>
          </a:bodyPr>
          <a:lstStyle/>
          <a:p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API docs</a:t>
            </a:r>
          </a:p>
        </p:txBody>
      </p:sp>
      <p:sp>
        <p:nvSpPr>
          <p:cNvPr id="6" name="Google Shape;969;p80">
            <a:extLst>
              <a:ext uri="{FF2B5EF4-FFF2-40B4-BE49-F238E27FC236}">
                <a16:creationId xmlns:a16="http://schemas.microsoft.com/office/drawing/2014/main" id="{55193150-005D-DDAC-ACAE-A50653E1B6CE}"/>
              </a:ext>
            </a:extLst>
          </p:cNvPr>
          <p:cNvSpPr>
            <a:spLocks noGrp="1"/>
          </p:cNvSpPr>
          <p:nvPr/>
        </p:nvSpPr>
        <p:spPr>
          <a:xfrm>
            <a:off x="5095246" y="1788470"/>
            <a:ext cx="2004054" cy="339939"/>
          </a:xfrm>
          <a:prstGeom prst="roundRect">
            <a:avLst>
              <a:gd name="adj" fmla="val 50000"/>
            </a:avLst>
          </a:prstGeom>
          <a:solidFill>
            <a:srgbClr val="BCEF59"/>
          </a:solidFill>
          <a:ln>
            <a:noFill/>
          </a:ln>
        </p:spPr>
        <p:txBody>
          <a:bodyPr spcFirstLastPara="1" wrap="square" lIns="118872" tIns="121875" rIns="121875" bIns="121875" anchor="ctr">
            <a:noAutofit/>
          </a:bodyPr>
          <a:lstStyle/>
          <a:p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upgrade head</a:t>
            </a:r>
          </a:p>
        </p:txBody>
      </p:sp>
      <p:sp>
        <p:nvSpPr>
          <p:cNvPr id="9" name="Google Shape;969;p80">
            <a:extLst>
              <a:ext uri="{FF2B5EF4-FFF2-40B4-BE49-F238E27FC236}">
                <a16:creationId xmlns:a16="http://schemas.microsoft.com/office/drawing/2014/main" id="{E6450C44-6EBB-C6EE-22ED-5AD1B7978C9A}"/>
              </a:ext>
            </a:extLst>
          </p:cNvPr>
          <p:cNvSpPr>
            <a:spLocks noGrp="1"/>
          </p:cNvSpPr>
          <p:nvPr/>
        </p:nvSpPr>
        <p:spPr>
          <a:xfrm>
            <a:off x="535946" y="4257498"/>
            <a:ext cx="2004054" cy="339939"/>
          </a:xfrm>
          <a:prstGeom prst="roundRect">
            <a:avLst>
              <a:gd name="adj" fmla="val 50000"/>
            </a:avLst>
          </a:prstGeom>
          <a:solidFill>
            <a:srgbClr val="BCEF59"/>
          </a:solidFill>
          <a:ln>
            <a:noFill/>
          </a:ln>
        </p:spPr>
        <p:txBody>
          <a:bodyPr spcFirstLastPara="1" wrap="square" lIns="118872" tIns="121875" rIns="121875" bIns="121875" anchor="ctr">
            <a:noAutofit/>
          </a:bodyPr>
          <a:lstStyle/>
          <a:p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pgvector image</a:t>
            </a:r>
          </a:p>
        </p:txBody>
      </p:sp>
      <p:sp>
        <p:nvSpPr>
          <p:cNvPr id="10" name="Google Shape;969;p80">
            <a:extLst>
              <a:ext uri="{FF2B5EF4-FFF2-40B4-BE49-F238E27FC236}">
                <a16:creationId xmlns:a16="http://schemas.microsoft.com/office/drawing/2014/main" id="{514ABA49-AA4D-75E4-06B4-7B2D65B6A93C}"/>
              </a:ext>
            </a:extLst>
          </p:cNvPr>
          <p:cNvSpPr>
            <a:spLocks noGrp="1"/>
          </p:cNvSpPr>
          <p:nvPr/>
        </p:nvSpPr>
        <p:spPr>
          <a:xfrm>
            <a:off x="7368546" y="4257498"/>
            <a:ext cx="2004054" cy="339939"/>
          </a:xfrm>
          <a:prstGeom prst="roundRect">
            <a:avLst>
              <a:gd name="adj" fmla="val 50000"/>
            </a:avLst>
          </a:prstGeom>
          <a:solidFill>
            <a:srgbClr val="BCEF59"/>
          </a:solidFill>
          <a:ln>
            <a:noFill/>
          </a:ln>
        </p:spPr>
        <p:txBody>
          <a:bodyPr spcFirstLastPara="1" wrap="square" lIns="118872" tIns="121875" rIns="121875" bIns="121875" anchor="ctr">
            <a:noAutofit/>
          </a:bodyPr>
          <a:lstStyle/>
          <a:p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.env only</a:t>
            </a:r>
          </a:p>
        </p:txBody>
      </p:sp>
      <p:sp>
        <p:nvSpPr>
          <p:cNvPr id="14" name="Google Shape;969;p80">
            <a:extLst>
              <a:ext uri="{FF2B5EF4-FFF2-40B4-BE49-F238E27FC236}">
                <a16:creationId xmlns:a16="http://schemas.microsoft.com/office/drawing/2014/main" id="{0A803CC6-DD7B-E7CD-2227-ACC292A5C399}"/>
              </a:ext>
            </a:extLst>
          </p:cNvPr>
          <p:cNvSpPr>
            <a:spLocks noGrp="1"/>
          </p:cNvSpPr>
          <p:nvPr/>
        </p:nvSpPr>
        <p:spPr>
          <a:xfrm>
            <a:off x="2821946" y="5458770"/>
            <a:ext cx="2004054" cy="339939"/>
          </a:xfrm>
          <a:prstGeom prst="roundRect">
            <a:avLst>
              <a:gd name="adj" fmla="val 50000"/>
            </a:avLst>
          </a:prstGeom>
          <a:solidFill>
            <a:srgbClr val="BCEF59"/>
          </a:solidFill>
          <a:ln>
            <a:noFill/>
          </a:ln>
        </p:spPr>
        <p:txBody>
          <a:bodyPr spcFirstLastPara="1" wrap="square" lIns="118872" tIns="121875" rIns="121875" bIns="121875" anchor="ctr">
            <a:noAutofit/>
          </a:bodyPr>
          <a:lstStyle/>
          <a:p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port 5432</a:t>
            </a:r>
          </a:p>
        </p:txBody>
      </p:sp>
    </p:spTree>
    <p:extLst>
      <p:ext uri="{BB962C8B-B14F-4D97-AF65-F5344CB8AC3E}">
        <p14:creationId xmlns:p14="http://schemas.microsoft.com/office/powerpoint/2010/main" val="4291209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94652D-58EE-6496-27FC-88868633C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066174"/>
            <a:ext cx="9448800" cy="2203686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sz="7200">
                <a:solidFill>
                  <a:srgbClr val="BCEF59"/>
                </a:solidFill>
              </a:rPr>
              <a:t>A traceable platform</a:t>
            </a:r>
          </a:p>
          <a:p>
            <a:pPr algn="ctr">
              <a:buNone/>
            </a:pPr>
            <a:r>
              <a:rPr sz="7200">
                <a:solidFill>
                  <a:srgbClr val="BCEF59"/>
                </a:solidFill>
              </a:rPr>
              <a:t>for two AI modules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7A15B0DD-3ED8-37CA-9675-F348EABF4C6C}"/>
              </a:ext>
            </a:extLst>
          </p:cNvPr>
          <p:cNvSpPr>
            <a:spLocks noGrp="1"/>
          </p:cNvSpPr>
          <p:nvPr/>
        </p:nvSpPr>
        <p:spPr>
          <a:xfrm>
            <a:off x="2461605" y="4874716"/>
            <a:ext cx="7267329" cy="691197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2200">
                <a:latin typeface="Inter Medium"/>
                <a:ea typeface="Inter Medium"/>
                <a:cs typeface="Inter Medium"/>
              </a:rPr>
              <a:t>FastAPI coordinates validation, AI calls and database writes. Docker makes the database reproducible.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4FF5F30-1F7D-7291-7074-4D9972C874C3}"/>
              </a:ext>
            </a:extLst>
          </p:cNvPr>
          <p:cNvSpPr>
            <a:spLocks noGrp="1"/>
          </p:cNvSpPr>
          <p:nvPr/>
        </p:nvSpPr>
        <p:spPr>
          <a:xfrm>
            <a:off x="4793264" y="1096027"/>
            <a:ext cx="2604013" cy="488816"/>
          </a:xfrm>
          <a:prstGeom prst="roundRect">
            <a:avLst>
              <a:gd name="adj" fmla="val 50000"/>
            </a:avLst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600" b="1">
                <a:solidFill>
                  <a:schemeClr val="tx1"/>
                </a:solidFill>
                <a:latin typeface="Inter SemiBold"/>
                <a:ea typeface="Inter SemiBold"/>
                <a:cs typeface="Inter SemiBold"/>
              </a:rPr>
              <a:t>MEMBER 3 SUMMARY</a:t>
            </a:r>
          </a:p>
        </p:txBody>
      </p:sp>
    </p:spTree>
    <p:extLst>
      <p:ext uri="{BB962C8B-B14F-4D97-AF65-F5344CB8AC3E}">
        <p14:creationId xmlns:p14="http://schemas.microsoft.com/office/powerpoint/2010/main" val="238537360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1325</Words>
  <Application>Microsoft Office PowerPoint</Application>
  <DocSecurity>0</DocSecurity>
  <PresentationFormat>Widescreen</PresentationFormat>
  <Paragraphs>140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Inter Medium</vt:lpstr>
      <vt:lpstr>OpenAI Sans</vt:lpstr>
      <vt:lpstr>Helvetica Neue Medium</vt:lpstr>
      <vt:lpstr>Helvetica Neue</vt:lpstr>
      <vt:lpstr>Inter</vt:lpstr>
      <vt:lpstr>Inter SemiBold</vt:lpstr>
      <vt:lpstr>Arial</vt:lpstr>
      <vt:lpstr>Default Codex Theme</vt:lpstr>
      <vt:lpstr>KrishiMitra Technical Walkthrough</vt:lpstr>
      <vt:lpstr>System architecture</vt:lpstr>
      <vt:lpstr>Member 1: Frontend stack and responsibilities</vt:lpstr>
      <vt:lpstr>Crop health interface states</vt:lpstr>
      <vt:lpstr>Chatbot interface and live demo</vt:lpstr>
      <vt:lpstr>Member 2: Data processing</vt:lpstr>
      <vt:lpstr>MobileNetV2 training lifecycle</vt:lpstr>
      <vt:lpstr>Model evaluation</vt:lpstr>
      <vt:lpstr>Member 3: FastAPI request pipelines</vt:lpstr>
      <vt:lpstr>Database, Docker and startup</vt:lpstr>
      <vt:lpstr>A traceable platform for two AI modules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Praveen A</cp:lastModifiedBy>
  <cp:revision>1</cp:revision>
  <dcterms:created xsi:type="dcterms:W3CDTF">2026-09-15T16:25:23Z</dcterms:created>
  <dcterms:modified xsi:type="dcterms:W3CDTF">2026-09-15T16:39:18Z</dcterms:modified>
</cp:coreProperties>
</file>