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f4a7beb5c14a1c" /><Relationship Type="http://schemas.openxmlformats.org/officeDocument/2006/relationships/extended-properties" Target="/docProps/app.xml" Id="R110c15a8c591491d" /><Relationship Type="http://schemas.openxmlformats.org/officeDocument/2006/relationships/officeDocument" Target="/ppt/presentation.xml" Id="R37036d27927848de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614eb96744fe4166"/>
  </p:sldMasterIdLst>
  <p:notesMasterIdLst>
    <p:notesMasterId xmlns:r="http://schemas.openxmlformats.org/officeDocument/2006/relationships" r:id="R49d509fe52d64a87"/>
  </p:notesMasterIdLst>
  <p:sldIdLst>
    <p:sldId xmlns:r="http://schemas.openxmlformats.org/officeDocument/2006/relationships" id="256" r:id="R7de92df4f93e40d4"/>
    <p:sldId xmlns:r="http://schemas.openxmlformats.org/officeDocument/2006/relationships" id="257" r:id="R5dce9b228d89448b"/>
    <p:sldId xmlns:r="http://schemas.openxmlformats.org/officeDocument/2006/relationships" id="258" r:id="R894b54328682487d"/>
    <p:sldId xmlns:r="http://schemas.openxmlformats.org/officeDocument/2006/relationships" id="259" r:id="R44d65eba0ab847ee"/>
    <p:sldId xmlns:r="http://schemas.openxmlformats.org/officeDocument/2006/relationships" id="260" r:id="R3bb73617527c4eeb"/>
    <p:sldId xmlns:r="http://schemas.openxmlformats.org/officeDocument/2006/relationships" id="261" r:id="Rb4faae8a56b84e38"/>
    <p:sldId xmlns:r="http://schemas.openxmlformats.org/officeDocument/2006/relationships" id="262" r:id="R067b09ff222c42fc"/>
    <p:sldId xmlns:r="http://schemas.openxmlformats.org/officeDocument/2006/relationships" id="263" r:id="R1c8ab9b1efc94ab3"/>
    <p:sldId xmlns:r="http://schemas.openxmlformats.org/officeDocument/2006/relationships" id="264" r:id="R51d86beb8dc04781"/>
    <p:sldId xmlns:r="http://schemas.openxmlformats.org/officeDocument/2006/relationships" id="265" r:id="Rb825e92cb6da4e85"/>
    <p:sldId xmlns:r="http://schemas.openxmlformats.org/officeDocument/2006/relationships" id="266" r:id="R596b4587f1d0416d"/>
    <p:sldId xmlns:r="http://schemas.openxmlformats.org/officeDocument/2006/relationships" id="267" r:id="R30cfd2ea1ae6468c"/>
  </p:sldIdLst>
  <p:sldSz cx="12192000" cy="6858000"/>
  <p:notesSz cx="6858000" cy="9144000"/>
  <p:embeddedFontLst>
    <p:embeddedFont>
      <p:font typeface="Inter"/>
      <p:regular xmlns:r="http://schemas.openxmlformats.org/officeDocument/2006/relationships" r:id="Ra551fb419cb94b85"/>
      <p:bold xmlns:r="http://schemas.openxmlformats.org/officeDocument/2006/relationships" r:id="Rbbd81d830d2b488b"/>
    </p:embeddedFont>
    <p:embeddedFont>
      <p:font typeface="Inter Medium"/>
      <p:regular xmlns:r="http://schemas.openxmlformats.org/officeDocument/2006/relationships" r:id="Ra9cdd0ec40ef4ceb"/>
    </p:embeddedFont>
    <p:embeddedFont>
      <p:font typeface="Inter SemiBold"/>
      <p:regular xmlns:r="http://schemas.openxmlformats.org/officeDocument/2006/relationships" r:id="R8a11a4fb0af743c1"/>
      <p:bold xmlns:r="http://schemas.openxmlformats.org/officeDocument/2006/relationships" r:id="R563d1a47687c4baa"/>
    </p:embeddedFont>
    <p:embeddedFont>
      <p:font typeface="OpenAI Sans"/>
      <p:regular xmlns:r="http://schemas.openxmlformats.org/officeDocument/2006/relationships" r:id="R7d1fcced17d84910"/>
      <p:bold xmlns:r="http://schemas.openxmlformats.org/officeDocument/2006/relationships" r:id="R338b445b77664e8b"/>
      <p:italic xmlns:r="http://schemas.openxmlformats.org/officeDocument/2006/relationships" r:id="R22ae2916a3c645aa"/>
      <p:boldItalic xmlns:r="http://schemas.openxmlformats.org/officeDocument/2006/relationships" r:id="R3bfba26d19f84951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b2547941f04193" /><Relationship Type="http://schemas.openxmlformats.org/officeDocument/2006/relationships/slideMaster" Target="/ppt/slideMasters/slideMaster1.xml" Id="R614eb96744fe4166" /><Relationship Type="http://schemas.openxmlformats.org/officeDocument/2006/relationships/notesMaster" Target="/ppt/notesMasters/notesMaster1.xml" Id="R49d509fe52d64a87" /><Relationship Type="http://schemas.openxmlformats.org/officeDocument/2006/relationships/presProps" Target="/ppt/presProps.xml" Id="Rb8f3cbf5bdfc4526" /><Relationship Type="http://schemas.openxmlformats.org/officeDocument/2006/relationships/viewProps" Target="/ppt/viewProps.xml" Id="R6a6a64ea294f4d80" /><Relationship Type="http://schemas.openxmlformats.org/officeDocument/2006/relationships/tableStyles" Target="/ppt/tableStyles.xml" Id="Rf2e41ee0c66f4bbe" /><Relationship Type="http://schemas.openxmlformats.org/officeDocument/2006/relationships/font" Target="/ppt/fonts/font.dat" Id="Ra551fb419cb94b85" /><Relationship Type="http://schemas.openxmlformats.org/officeDocument/2006/relationships/font" Target="/ppt/fonts/font2.dat" Id="Rbbd81d830d2b488b" /><Relationship Type="http://schemas.openxmlformats.org/officeDocument/2006/relationships/font" Target="/ppt/fonts/font3.dat" Id="Ra9cdd0ec40ef4ceb" /><Relationship Type="http://schemas.openxmlformats.org/officeDocument/2006/relationships/font" Target="/ppt/fonts/font4.dat" Id="R8a11a4fb0af743c1" /><Relationship Type="http://schemas.openxmlformats.org/officeDocument/2006/relationships/font" Target="/ppt/fonts/font5.dat" Id="R563d1a47687c4baa" /><Relationship Type="http://schemas.openxmlformats.org/officeDocument/2006/relationships/font" Target="/ppt/fonts/font6.dat" Id="R7d1fcced17d84910" /><Relationship Type="http://schemas.openxmlformats.org/officeDocument/2006/relationships/font" Target="/ppt/fonts/font7.dat" Id="R338b445b77664e8b" /><Relationship Type="http://schemas.openxmlformats.org/officeDocument/2006/relationships/font" Target="/ppt/fonts/font8.dat" Id="R22ae2916a3c645aa" /><Relationship Type="http://schemas.openxmlformats.org/officeDocument/2006/relationships/font" Target="/ppt/fonts/font9.dat" Id="R3bfba26d19f84951" /><Relationship Type="http://schemas.openxmlformats.org/officeDocument/2006/relationships/slide" Target="/ppt/slides/slide1.xml" Id="R7de92df4f93e40d4" /><Relationship Type="http://schemas.openxmlformats.org/officeDocument/2006/relationships/slide" Target="/ppt/slides/slide2.xml" Id="R5dce9b228d89448b" /><Relationship Type="http://schemas.openxmlformats.org/officeDocument/2006/relationships/slide" Target="/ppt/slides/slide3.xml" Id="R894b54328682487d" /><Relationship Type="http://schemas.openxmlformats.org/officeDocument/2006/relationships/slide" Target="/ppt/slides/slide4.xml" Id="R44d65eba0ab847ee" /><Relationship Type="http://schemas.openxmlformats.org/officeDocument/2006/relationships/slide" Target="/ppt/slides/slide5.xml" Id="R3bb73617527c4eeb" /><Relationship Type="http://schemas.openxmlformats.org/officeDocument/2006/relationships/slide" Target="/ppt/slides/slide6.xml" Id="Rb4faae8a56b84e38" /><Relationship Type="http://schemas.openxmlformats.org/officeDocument/2006/relationships/slide" Target="/ppt/slides/slide7.xml" Id="R067b09ff222c42fc" /><Relationship Type="http://schemas.openxmlformats.org/officeDocument/2006/relationships/slide" Target="/ppt/slides/slide8.xml" Id="R1c8ab9b1efc94ab3" /><Relationship Type="http://schemas.openxmlformats.org/officeDocument/2006/relationships/slide" Target="/ppt/slides/slide9.xml" Id="R51d86beb8dc04781" /><Relationship Type="http://schemas.openxmlformats.org/officeDocument/2006/relationships/slide" Target="/ppt/slides/slide10.xml" Id="Rb825e92cb6da4e85" /><Relationship Type="http://schemas.openxmlformats.org/officeDocument/2006/relationships/slide" Target="/ppt/slides/slide11.xml" Id="R596b4587f1d0416d" /><Relationship Type="http://schemas.openxmlformats.org/officeDocument/2006/relationships/slide" Target="/ppt/slides/slide12.xml" Id="R30cfd2ea1ae646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7a61e66d364a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ab837755fd4c98" /><Relationship Type="http://schemas.openxmlformats.org/officeDocument/2006/relationships/notesMaster" Target="/ppt/notesMasters/notesMaster1.xml" Id="R67c93b02dc8b4c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e4a28997ff4c15" /><Relationship Type="http://schemas.openxmlformats.org/officeDocument/2006/relationships/notesMaster" Target="/ppt/notesMasters/notesMaster1.xml" Id="Rad9589c2ad4148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c9dae0118b4d83" /><Relationship Type="http://schemas.openxmlformats.org/officeDocument/2006/relationships/notesMaster" Target="/ppt/notesMasters/notesMaster1.xml" Id="R9962b6ccf6be4d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4f5707a2ca4506" /><Relationship Type="http://schemas.openxmlformats.org/officeDocument/2006/relationships/notesMaster" Target="/ppt/notesMasters/notesMaster1.xml" Id="Rcbdf6660434f4d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988cfd2300405e" /><Relationship Type="http://schemas.openxmlformats.org/officeDocument/2006/relationships/notesMaster" Target="/ppt/notesMasters/notesMaster1.xml" Id="R7111407ada9a4c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d9eb4829cd41b2" /><Relationship Type="http://schemas.openxmlformats.org/officeDocument/2006/relationships/notesMaster" Target="/ppt/notesMasters/notesMaster1.xml" Id="R48422a228abf40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2972598f0ec498e" /><Relationship Type="http://schemas.openxmlformats.org/officeDocument/2006/relationships/notesMaster" Target="/ppt/notesMasters/notesMaster1.xml" Id="Rcefc9d45c2f140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b63cf5136e4882" /><Relationship Type="http://schemas.openxmlformats.org/officeDocument/2006/relationships/notesMaster" Target="/ppt/notesMasters/notesMaster1.xml" Id="Re8dbef603c0b4ad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13aa239f8db4731" /><Relationship Type="http://schemas.openxmlformats.org/officeDocument/2006/relationships/notesMaster" Target="/ppt/notesMasters/notesMaster1.xml" Id="Re3ca5169d31942a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08a41e54a614f85" /><Relationship Type="http://schemas.openxmlformats.org/officeDocument/2006/relationships/notesMaster" Target="/ppt/notesMasters/notesMaster1.xml" Id="Raf431ccca40641a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0ec26893687438e" /><Relationship Type="http://schemas.openxmlformats.org/officeDocument/2006/relationships/notesMaster" Target="/ppt/notesMasters/notesMaster1.xml" Id="R369d6946d97a4e3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c8197d590db44ce" /><Relationship Type="http://schemas.openxmlformats.org/officeDocument/2006/relationships/notesMaster" Target="/ppt/notesMasters/notesMaster1.xml" Id="R0eee048784a548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KrishiMitra combines a crop health classifier with an agriculture chatbot.</a:t>
            </a:r>
            <a:endParaRPr/>
          </a:p>
          <a:p xmlns:a="http://schemas.openxmlformats.org/drawingml/2006/main">
            <a:r>
              <a:t>The walkthrough follows the real request path from the browser to FastAPI, AI services and PostgreSQL.</a:t>
            </a:r>
            <a:endParaRPr/>
          </a:p>
          <a:p xmlns:a="http://schemas.openxmlformats.org/drawingml/2006/main">
            <a:r>
              <a:t>The team divides the presentation equally across frontend, machine learning and backend infrastructure.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member owns three content slides and one live demonstration.</a:t>
            </a:r>
          </a:p>
          <a:p xmlns:a="http://schemas.openxmlformats.org/drawingml/2006/main">
            <a:r>
              <a:t>Member 1 presents the browser experience. Member 2 presents the data and model lifecycle. Member 3 presents server execution and infrastructure.</a:t>
            </a:r>
          </a:p>
          <a:p xmlns:a="http://schemas.openxmlformats.org/drawingml/2006/main">
            <a:r>
              <a:t>All members should understand the two end to end paths shown on the next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Shared architecture: React never runs the model and never sees the Gemini key.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FastAPI coordinates validation, inference, generation and database writes.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PostgreSQL stores prediction metadata and chatbot history. Docker runs the PostgreSQL and pgvector service.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Screenshot source: the local KrishiMitra frontend at http://127.0.0.1:5173.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Contribution: Member 1 explains the complete browser-side application in frontend/src/App.tsx.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React useState stores selected views, files, questions, messages and loading state. useMemo creates the local image preview.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VITE_API_BASE_URL controls the backend address. The default points to http://127.0.0.1:8000/api/v1.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flow: choose the expected crop, select an image, inspect the preview and click Analyse leaf.</a:t>
            </a:r>
          </a:p>
          <a:p xmlns:a="http://schemas.openxmlformats.org/drawingml/2006/main">
            <a:r>
              <a:t>The crop hint does not force a class. The backend compares it with the crop encoded in the predicted label.</a:t>
            </a:r>
          </a:p>
          <a:p xmlns:a="http://schemas.openxmlformats.org/drawingml/2006/main">
            <a:r>
              <a:t>Confidence below 0.75 becomes review-only. A crop mismatch must not be used as a diagnosis.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Contribution summary for Member 1: interface components, form handling, file preview, typed responses, API calls and user-facing warnings.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chatbot sends JSON to /api/v1/advisor/chat. The first response returns a conversation ID, which React sends with later questions.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frontend production build uses tsc -b followed by vite build.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Contribution: Member 2 explains data/prepare_plantvillage.py, data/create_splits.py and the training script.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Class balance varies. Macro-F1 therefore matters because it gives each class equal weight.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test set remains separate until the final evaluation, which avoids test-data leakage.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MobileNetV2 starts with ImageNet weights. Transfer learning reuses general visual features such as edges and textures.</a:t>
            </a:r>
          </a:p>
          <a:p xmlns:a="http://schemas.openxmlformats.org/drawingml/2006/main">
            <a:r>
              <a:t>Training uses CrossEntropyLoss and AdamW. The head learning rate is 0.001, then fine-tuning uses 0.0001.</a:t>
            </a:r>
          </a:p>
          <a:p xmlns:a="http://schemas.openxmlformats.org/drawingml/2006/main">
            <a:r>
              <a:t>Augmentation includes random resized crop, horizontal flip, rotation and colour jitter. Evaluation uses resize and center crop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Best validation macro-F1: 99.16 percent. Test accuracy: 98.68 percent. Test macro-F1: 98.63 percent.</a:t>
            </a:r>
          </a:p>
          <a:p xmlns:a="http://schemas.openxmlformats.org/drawingml/2006/main">
            <a:r>
              <a:t>CPU latency p50: 40.85 ms. CPU latency p95: 43.52 ms.</a:t>
            </a:r>
          </a:p>
          <a:p xmlns:a="http://schemas.openxmlformats.org/drawingml/2006/main">
            <a:r>
              <a:t>Important limitation: the model only compares ten known classes. It cannot confirm unsupported diseases such as Northern Leaf Blight.</a:t>
            </a:r>
          </a:p>
          <a:p xmlns:a="http://schemas.openxmlformats.org/drawingml/2006/main">
            <a:r>
              <a:t>Source: docs/model_registry/mobilenetv2-10class-v1.json.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Contribution: Member 3 explains FastAPI, Pydantic, SQLAlchemy, Gemini and infrastructure.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GET /api/v1/health checks readiness. POST /api/v1/health/predict receives multipart image data. POST /api/v1/advisor/chat receives JSON.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FastAPI validates requests, calls the relevant service, writes metadata through SQLAlchemy and returns a typed response.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CORS permits the Vite frontend at localhost or 127.0.0.1 on port 5173.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Docker Compose runs pgvector/pgvector:pg16 with a persistent volume and a readiness check.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Alembic creates the prediction, conversation and future vector-document tables, then adds the HNSW cosine index.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Gemini API key stays in backend/.env and never enters React or Git. The active text model is gemini-3.6-flash.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Startup sequence: check prerequisites, start the database, wait for readiness, apply migrations, launch FastAPI, then launch Vite.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summary: the frontend captures user intent, FastAPI coordinates the workflow, MobileNetV2 and Gemini provide the AI functions, and PostgreSQL records traceable outputs.</a:t>
            </a:r>
            <a:endParaRPr/>
          </a:p>
          <a:p xmlns:a="http://schemas.openxmlformats.org/drawingml/2006/main">
            <a:r>
              <a:t>Current limitations: PlantVillage results do not prove field accuracy. Gemini answers require verification for pesticide and high-risk decisions. The chatbot does not yet use citation-grounded retrieval.</a:t>
            </a:r>
            <a:endParaRPr/>
          </a:p>
          <a:p xmlns:a="http://schemas.openxmlformats.org/drawingml/2006/main">
            <a:r>
              <a:t>End with the live URLs: website at http://localhost:5173 and API docs at http://127.0.0.1:8000/docs.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937d1c46614fd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dbf378efe844b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e217b1d2304fd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97625fd2a24b6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8977a5a52642f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7f646b324a4f0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ed735f836f4bb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4bb94a8f2c4dbf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b0df5b0c0f42da" /><Relationship Type="http://schemas.openxmlformats.org/officeDocument/2006/relationships/slideLayout" Target="/ppt/slideLayouts/slideLayout1.xml" Id="Rc7acac9807c0447f" /><Relationship Type="http://schemas.openxmlformats.org/officeDocument/2006/relationships/slideLayout" Target="/ppt/slideLayouts/slideLayout2.xml" Id="Rd60a78028ed14ffe" /><Relationship Type="http://schemas.openxmlformats.org/officeDocument/2006/relationships/slideLayout" Target="/ppt/slideLayouts/slideLayout3.xml" Id="R0f37143c184c4395" /><Relationship Type="http://schemas.openxmlformats.org/officeDocument/2006/relationships/slideLayout" Target="/ppt/slideLayouts/slideLayout4.xml" Id="R6319b23aaf4646fd" /><Relationship Type="http://schemas.openxmlformats.org/officeDocument/2006/relationships/slideLayout" Target="/ppt/slideLayouts/slideLayout5.xml" Id="R3d1b4e676d4848cd" /><Relationship Type="http://schemas.openxmlformats.org/officeDocument/2006/relationships/slideLayout" Target="/ppt/slideLayouts/slideLayout6.xml" Id="R523bbb6f9b324ecf" /><Relationship Type="http://schemas.openxmlformats.org/officeDocument/2006/relationships/slideLayout" Target="/ppt/slideLayouts/slideLayout7.xml" Id="R10ec87cf54d54bf7" /><Relationship Type="http://schemas.openxmlformats.org/officeDocument/2006/relationships/slideLayout" Target="/ppt/slideLayouts/slideLayout8.xml" Id="R9445a2e9f49048a2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0026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acac9807c0447f"/>
    <p:sldLayoutId xmlns:r="http://schemas.openxmlformats.org/officeDocument/2006/relationships" id="2147483650" r:id="Rd60a78028ed14ffe"/>
    <p:sldLayoutId xmlns:r="http://schemas.openxmlformats.org/officeDocument/2006/relationships" id="2147483651" r:id="R0f37143c184c4395"/>
    <p:sldLayoutId xmlns:r="http://schemas.openxmlformats.org/officeDocument/2006/relationships" id="2147483652" r:id="R6319b23aaf4646fd"/>
    <p:sldLayoutId xmlns:r="http://schemas.openxmlformats.org/officeDocument/2006/relationships" id="2147483653" r:id="R3d1b4e676d4848cd"/>
    <p:sldLayoutId xmlns:r="http://schemas.openxmlformats.org/officeDocument/2006/relationships" id="2147483654" r:id="R523bbb6f9b324ecf"/>
    <p:sldLayoutId xmlns:r="http://schemas.openxmlformats.org/officeDocument/2006/relationships" id="2147483655" r:id="R10ec87cf54d54bf7"/>
    <p:sldLayoutId xmlns:r="http://schemas.openxmlformats.org/officeDocument/2006/relationships" id="2147483656" r:id="R9445a2e9f49048a2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0" i="0" kern="1200">
          <a:solidFill>
            <a:schemeClr val="tx1"/>
          </a:solidFill>
          <a:latin typeface="Inter Medium"/>
          <a:ea typeface="Inter Medium"/>
          <a:cs typeface="Inter Medium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xmlns:a="http://schemas.openxmlformats.org/drawingml/2006/main" val="F26B43"/>
          </p15:clr>
        </p15:guide>
        <p15:guide id="2" pos="7680">
          <p15:clr>
            <a:srgbClr xmlns:a="http://schemas.openxmlformats.org/drawingml/2006/main" val="F26B43"/>
          </p15:clr>
        </p15:guide>
        <p15:guide id="3" pos="248">
          <p15:clr>
            <a:srgbClr xmlns:a="http://schemas.openxmlformats.org/drawingml/2006/main" val="F26B43"/>
          </p15:clr>
        </p15:guide>
        <p15:guide id="4" pos="1264">
          <p15:clr>
            <a:srgbClr xmlns:a="http://schemas.openxmlformats.org/drawingml/2006/main" val="F26B43"/>
          </p15:clr>
        </p15:guide>
        <p15:guide id="5" pos="1480">
          <p15:clr>
            <a:srgbClr xmlns:a="http://schemas.openxmlformats.org/drawingml/2006/main" val="F26B43"/>
          </p15:clr>
        </p15:guide>
        <p15:guide id="6" pos="2496">
          <p15:clr>
            <a:srgbClr xmlns:a="http://schemas.openxmlformats.org/drawingml/2006/main" val="F26B43"/>
          </p15:clr>
        </p15:guide>
        <p15:guide id="7" pos="2712">
          <p15:clr>
            <a:srgbClr xmlns:a="http://schemas.openxmlformats.org/drawingml/2006/main" val="F26B43"/>
          </p15:clr>
        </p15:guide>
        <p15:guide id="8" pos="3736">
          <p15:clr>
            <a:srgbClr xmlns:a="http://schemas.openxmlformats.org/drawingml/2006/main" val="F26B43"/>
          </p15:clr>
        </p15:guide>
        <p15:guide id="9" pos="3944">
          <p15:clr>
            <a:srgbClr xmlns:a="http://schemas.openxmlformats.org/drawingml/2006/main" val="F26B43"/>
          </p15:clr>
        </p15:guide>
        <p15:guide id="10" pos="4968">
          <p15:clr>
            <a:srgbClr xmlns:a="http://schemas.openxmlformats.org/drawingml/2006/main" val="F26B43"/>
          </p15:clr>
        </p15:guide>
        <p15:guide id="11" pos="5184">
          <p15:clr>
            <a:srgbClr xmlns:a="http://schemas.openxmlformats.org/drawingml/2006/main" val="F26B43"/>
          </p15:clr>
        </p15:guide>
        <p15:guide id="12" pos="6200">
          <p15:clr>
            <a:srgbClr xmlns:a="http://schemas.openxmlformats.org/drawingml/2006/main" val="F26B43"/>
          </p15:clr>
        </p15:guide>
        <p15:guide id="13" pos="6416">
          <p15:clr>
            <a:srgbClr xmlns:a="http://schemas.openxmlformats.org/drawingml/2006/main" val="F26B43"/>
          </p15:clr>
        </p15:guide>
        <p15:guide id="14" pos="7432">
          <p15:clr>
            <a:srgbClr xmlns:a="http://schemas.openxmlformats.org/drawingml/2006/main" val="F26B43"/>
          </p15:clr>
        </p15:guide>
        <p15:guide id="15" orient="horz">
          <p15:clr>
            <a:srgbClr xmlns:a="http://schemas.openxmlformats.org/drawingml/2006/main" val="F26B43"/>
          </p15:clr>
        </p15:guide>
        <p15:guide id="17" orient="horz" pos="248">
          <p15:clr>
            <a:srgbClr xmlns:a="http://schemas.openxmlformats.org/drawingml/2006/main" val="F26B43"/>
          </p15:clr>
        </p15:guide>
        <p15:guide id="18" orient="horz" pos="656">
          <p15:clr>
            <a:srgbClr xmlns:a="http://schemas.openxmlformats.org/drawingml/2006/main" val="F26B43"/>
          </p15:clr>
        </p15:guide>
        <p15:guide id="19" orient="horz" pos="872">
          <p15:clr>
            <a:srgbClr xmlns:a="http://schemas.openxmlformats.org/drawingml/2006/main" val="F26B43"/>
          </p15:clr>
        </p15:guide>
        <p15:guide id="20" orient="horz" pos="1280">
          <p15:clr>
            <a:srgbClr xmlns:a="http://schemas.openxmlformats.org/drawingml/2006/main" val="F26B43"/>
          </p15:clr>
        </p15:guide>
        <p15:guide id="21" orient="horz" pos="1496">
          <p15:clr>
            <a:srgbClr xmlns:a="http://schemas.openxmlformats.org/drawingml/2006/main" val="F26B43"/>
          </p15:clr>
        </p15:guide>
        <p15:guide id="22" orient="horz" pos="1904">
          <p15:clr>
            <a:srgbClr xmlns:a="http://schemas.openxmlformats.org/drawingml/2006/main" val="F26B43"/>
          </p15:clr>
        </p15:guide>
        <p15:guide id="23" orient="horz" pos="2120">
          <p15:clr>
            <a:srgbClr xmlns:a="http://schemas.openxmlformats.org/drawingml/2006/main" val="F26B43"/>
          </p15:clr>
        </p15:guide>
        <p15:guide id="24" orient="horz" pos="2528">
          <p15:clr>
            <a:srgbClr xmlns:a="http://schemas.openxmlformats.org/drawingml/2006/main" val="F26B43"/>
          </p15:clr>
        </p15:guide>
        <p15:guide id="25" orient="horz" pos="2744">
          <p15:clr>
            <a:srgbClr xmlns:a="http://schemas.openxmlformats.org/drawingml/2006/main" val="F26B43"/>
          </p15:clr>
        </p15:guide>
        <p15:guide id="26" orient="horz" pos="3152">
          <p15:clr>
            <a:srgbClr xmlns:a="http://schemas.openxmlformats.org/drawingml/2006/main" val="F26B43"/>
          </p15:clr>
        </p15:guide>
        <p15:guide id="27" orient="horz" pos="3368">
          <p15:clr>
            <a:srgbClr xmlns:a="http://schemas.openxmlformats.org/drawingml/2006/main" val="F26B43"/>
          </p15:clr>
        </p15:guide>
        <p15:guide id="28" orient="horz" pos="3776">
          <p15:clr>
            <a:srgbClr xmlns:a="http://schemas.openxmlformats.org/drawingml/2006/main" val="F26B43"/>
          </p15:clr>
        </p15:guide>
        <p15:guide id="29" orient="horz" pos="4088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1245c533ce455c" /><Relationship Type="http://schemas.openxmlformats.org/officeDocument/2006/relationships/notesSlide" Target="/ppt/notesSlides/notesSlide1.xml" Id="R7826442e327d40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f128c59bd74983" /><Relationship Type="http://schemas.openxmlformats.org/officeDocument/2006/relationships/notesSlide" Target="/ppt/notesSlides/notesSlide2.xml" Id="R6343808604994b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d1d4d588d8405b" /><Relationship Type="http://schemas.openxmlformats.org/officeDocument/2006/relationships/image" Target="/ppt/media/image.png" Id="R9ef3a67a15564cab" /><Relationship Type="http://schemas.openxmlformats.org/officeDocument/2006/relationships/notesSlide" Target="/ppt/notesSlides/notesSlide3.xml" Id="R057dbbcd86e841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a84323d74c417d" /><Relationship Type="http://schemas.openxmlformats.org/officeDocument/2006/relationships/notesSlide" Target="/ppt/notesSlides/notesSlide4.xml" Id="R7093492ea7b047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f7ef1ea817454b" /><Relationship Type="http://schemas.openxmlformats.org/officeDocument/2006/relationships/notesSlide" Target="/ppt/notesSlides/notesSlide5.xml" Id="R20ae3cd523e349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fb19dc32c14c12" /><Relationship Type="http://schemas.openxmlformats.org/officeDocument/2006/relationships/notesSlide" Target="/ppt/notesSlides/notesSlide6.xml" Id="Rcb6ace075b164cc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fe66ff6c544782" /><Relationship Type="http://schemas.openxmlformats.org/officeDocument/2006/relationships/notesSlide" Target="/ppt/notesSlides/notesSlide7.xml" Id="R9f93328fdf4d4f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7225a6fcc2423e" /><Relationship Type="http://schemas.openxmlformats.org/officeDocument/2006/relationships/notesSlide" Target="/ppt/notesSlides/notesSlide8.xml" Id="Rd125f6abbf8e43a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f4ee8d76fb4e52" /><Relationship Type="http://schemas.openxmlformats.org/officeDocument/2006/relationships/notesSlide" Target="/ppt/notesSlides/notesSlide9.xml" Id="R5482e7d2644a48b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b90c78ca1843c1" /><Relationship Type="http://schemas.openxmlformats.org/officeDocument/2006/relationships/notesSlide" Target="/ppt/notesSlides/notesSlide10.xml" Id="R1ddd23d52ff8402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ad2a4ad4de44db" /><Relationship Type="http://schemas.openxmlformats.org/officeDocument/2006/relationships/notesSlide" Target="/ppt/notesSlides/notesSlide11.xml" Id="Rb1be4742ba3e458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ec4cedb4814a1b" /><Relationship Type="http://schemas.openxmlformats.org/officeDocument/2006/relationships/notesSlide" Target="/ppt/notesSlides/notesSlide12.xml" Id="Rad2695ab65b34c3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9A8DA10-BC74-F432-B483-CF813D4319A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371600" y="2066174"/>
            <a:ext cx="9448800" cy="220368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solidFill>
                  <a:srgbClr val="BCEF59"/>
                </a:solidFill>
              </a:rPr>
              <a:t>KrishiMitra</a:t>
            </a:r>
          </a:p>
          <a:p xmlns:a="http://schemas.openxmlformats.org/drawingml/2006/main">
            <a:pPr algn="ctr">
              <a:buNone/>
            </a:pPr>
            <a:r>
              <a:rPr sz="7200">
                <a:solidFill>
                  <a:srgbClr val="BCEF59"/>
                </a:solidFill>
              </a:rPr>
              <a:t>Technical Walkthrough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47DF5305-453D-AB88-8DE6-9846FEB1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1605" y="4874716"/>
            <a:ext cx="7267329" cy="6911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200">
                <a:latin typeface="Inter Medium"/>
                <a:ea typeface="Inter Medium"/>
                <a:cs typeface="Inter Medium"/>
              </a:rPr>
              <a:t>Frontend, MobileNetV2, Gemini chatbot, backend and Docker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A4393902-CF74-AC35-55A9-910ABBD4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264" y="1096027"/>
            <a:ext cx="2604013" cy="48881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tx1">
              <a:alpha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chemeClr val="tx1"/>
                </a:solidFill>
                <a:latin typeface="Inter SemiBold"/>
                <a:ea typeface="Inter SemiBold"/>
                <a:cs typeface="Inter SemiBold"/>
              </a:rPr>
              <a:t>CAPSTONE PROJECT</a:t>
            </a:r>
          </a:p>
        </p:txBody>
      </p:sp>
    </p:spTree>
    <p:extLst>
      <p:ext uri="{BB962C8B-B14F-4D97-AF65-F5344CB8AC3E}">
        <p14:creationId xmlns:p14="http://schemas.microsoft.com/office/powerpoint/2010/main" val="350773716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2FC4FC7-396D-BE8D-1F0E-C849A74CA5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B3BD1300-E71C-732F-134B-B7EE0492A9B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00000-1234-1234-1234-123412341234}" type="slidenum">
              <a:t>2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FC59BB80-DF6A-0532-F91A-4A78B8E582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4229100" cy="51959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BCEF59"/>
                </a:solidFill>
              </a:rPr>
              <a:t>Presentation ownership</a:t>
            </a:r>
          </a:p>
        </p:txBody>
      </p:sp>
      <p:graphicFrame>
        <p:nvGraphicFramePr>
          <p:cNvPr id="10" name="Table 3"/>
          <p:cNvGraphicFramePr/>
          <p:nvPr/>
        </p:nvGraphicFramePr>
        <p:xfrm>
          <a:off xmlns:a="http://schemas.openxmlformats.org/drawingml/2006/main" x="393700" y="1881809"/>
          <a:ext xmlns:a="http://schemas.openxmlformats.org/drawingml/2006/main" cx="11404600" cy="4112586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239"/>
                <a:gridCol w="7222435"/>
                <a:gridCol w="3422926"/>
              </a:tblGrid>
              <a:tr h="685431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01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Frontend stack and user journeys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rgbClr val="BCEF59"/>
                          </a:solidFill>
                          <a:latin typeface="+mn-lt"/>
                          <a:ea typeface="+mn-lt"/>
                          <a:cs typeface="+mn-lt"/>
                        </a:rPr>
                        <a:t>Member 1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85431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02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Crop health and chatbot interfaces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rgbClr val="BCEF59"/>
                          </a:solidFill>
                          <a:latin typeface="+mn-lt"/>
                          <a:ea typeface="+mn-lt"/>
                          <a:cs typeface="+mn-lt"/>
                        </a:rPr>
                        <a:t>Member 1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85431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03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Dataset processing and class design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rgbClr val="BCEF59"/>
                          </a:solidFill>
                          <a:latin typeface="+mn-lt"/>
                          <a:ea typeface="+mn-lt"/>
                          <a:cs typeface="+mn-lt"/>
                        </a:rPr>
                        <a:t>Member 2</a:t>
                      </a:r>
                      <a:endParaRPr sz="2500" b="0" i="0" u="none" kern="1200" cap="none" spc="0" baseline="0">
                        <a:ln>
                          <a:noFill/>
                        </a:ln>
                        <a:solidFill>
                          <a:srgbClr val="BCEF59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85431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04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MobileNetV2 training and evaluation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rgbClr val="BCEF59"/>
                          </a:solidFill>
                          <a:latin typeface="+mn-lt"/>
                          <a:ea typeface="+mn-lt"/>
                          <a:cs typeface="+mn-lt"/>
                        </a:rPr>
                        <a:t>Member 2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85431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05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FastAPI, Gemini and persistence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rgbClr val="BCEF59"/>
                          </a:solidFill>
                          <a:latin typeface="+mn-lt"/>
                          <a:ea typeface="+mn-lt"/>
                          <a:cs typeface="+mn-lt"/>
                        </a:rPr>
                        <a:t>Member 3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85431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06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Docker, migrations and demo startup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cap="none" spc="0">
                          <a:ln>
                            <a:noFill/>
                          </a:ln>
                          <a:solidFill>
                            <a:srgbClr val="BCEF59"/>
                          </a:solidFill>
                          <a:latin typeface="+mn-lt"/>
                          <a:ea typeface="+mn-lt"/>
                          <a:cs typeface="+mn-lt"/>
                        </a:rPr>
                        <a:t>Member 3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587740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System architecture</a:t>
            </a:r>
          </a:p>
        </p:txBody>
      </p:sp>
      <p:pic>
        <p:nvPicPr>
          <p:cNvPr id="53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f3a67a15564cab"/>
          <a:srcRect xmlns:a="http://schemas.openxmlformats.org/drawingml/2006/main" l="556" t="0" r="5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40" y="396409"/>
            <a:ext cx="5539740" cy="5602070"/>
          </a:xfrm>
          <a:prstGeom xmlns:a="http://schemas.openxmlformats.org/drawingml/2006/main" prst="roundRect">
            <a:avLst/>
          </a:prstGeom>
        </p:spPr>
      </p:pic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D4EE2969-B7C7-0C70-E299-B866E67D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684867"/>
            <a:ext cx="5537200" cy="17441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>
                <a:solidFill>
                  <a:srgbClr val="BCEF59"/>
                </a:solidFill>
                <a:latin typeface="Inter"/>
                <a:ea typeface="Inter"/>
                <a:cs typeface="Inter"/>
              </a:rPr>
              <a:t>Crop health path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700">
                <a:latin typeface="Inter"/>
                <a:ea typeface="Inter"/>
                <a:cs typeface="Inter"/>
              </a:rPr>
              <a:t>React sends an image and crop hint. FastAPI validates the file, MobileNetV2 predicts one of ten labels, and PostgreSQL records the scan.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2A34455-41AC-E436-D08C-DBCA262E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855855"/>
            <a:ext cx="5537200" cy="17441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>
                <a:solidFill>
                  <a:srgbClr val="BCEF59"/>
                </a:solidFill>
                <a:latin typeface="Inter"/>
                <a:ea typeface="Inter"/>
                <a:cs typeface="Inter"/>
              </a:rPr>
              <a:t>Chatbot path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700">
                <a:latin typeface="Inter"/>
                <a:ea typeface="Inter"/>
                <a:cs typeface="Inter"/>
              </a:rPr>
              <a:t>React sends a question and conversation ID. FastAPI adds recent context, Gemini 3.6 Flash generates the answer, and PostgreSQL stores the exchange.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Member 1: Frontend stack and responsibilities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1">
                <a:latin typeface="Inter SemiBold"/>
                <a:ea typeface="Inter SemiBold"/>
                <a:cs typeface="Inter SemiBold"/>
              </a:rPr>
              <a:t>React + TypeScript</a:t>
            </a:r>
            <a:endParaRPr sz="1800" b="1">
              <a:latin typeface="Inter SemiBold"/>
              <a:ea typeface="Inter SemiBold"/>
              <a:cs typeface="Inter SemiBold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Inter"/>
                <a:ea typeface="Inter"/>
                <a:cs typeface="Inter"/>
              </a:rPr>
              <a:t>Single-page views, typed API responses and local component state control the user experience.</a:t>
            </a:r>
            <a:endParaRPr sz="1800">
              <a:latin typeface="Inter"/>
              <a:ea typeface="Inter"/>
              <a:cs typeface="Inter"/>
            </a:endParaRP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 b="1">
                <a:latin typeface="Inter SemiBold"/>
                <a:ea typeface="Inter SemiBold"/>
                <a:cs typeface="Inter SemiBold"/>
              </a:rPr>
              <a:t>Fetch + React Query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latin typeface="Inter"/>
                <a:ea typeface="Inter"/>
                <a:cs typeface="Inter"/>
              </a:rPr>
              <a:t>Fetch sends requests. React Query checks API health every 15 seconds. Loading and error states guide the user.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 b="1">
                <a:latin typeface="Inter SemiBold"/>
                <a:ea typeface="Inter SemiBold"/>
                <a:cs typeface="Inter SemiBold"/>
              </a:rPr>
              <a:t>Vite + Tailwind CSS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latin typeface="Inter"/>
                <a:ea typeface="Inter"/>
                <a:cs typeface="Inter"/>
              </a:rPr>
              <a:t>Vite provides the local server and production build. Tailwind creates responsive layouts and warning states.</a:t>
            </a:r>
          </a:p>
        </p:txBody>
      </p:sp>
      <p:sp>
        <p:nvSpPr>
          <p:cNvPr id="7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D72B81A-AC75-C1B0-4313-7B84D705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763754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rgbClr val="BCEF59"/>
                </a:solidFill>
                <a:latin typeface="Inter SemiBold"/>
                <a:ea typeface="Inter SemiBold"/>
                <a:cs typeface="Inter SemiBold"/>
              </a:rPr>
              <a:t>FOUNDATION</a:t>
            </a:r>
          </a:p>
        </p:txBody>
      </p:sp>
      <p:sp>
        <p:nvSpPr>
          <p:cNvPr id="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200B2E2-6D19-9AFE-1E8D-518E55CC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763754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rgbClr val="BCEF59"/>
                </a:solidFill>
                <a:latin typeface="Inter SemiBold"/>
                <a:ea typeface="Inter SemiBold"/>
                <a:cs typeface="Inter SemiBold"/>
              </a:rPr>
              <a:t>DEVELOPMENT</a:t>
            </a: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4611C1F-A471-6B24-C785-2D7A5B5D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763754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rgbClr val="BCEF59"/>
                </a:solidFill>
                <a:latin typeface="Inter SemiBold"/>
                <a:ea typeface="Inter SemiBold"/>
                <a:cs typeface="Inter SemiBold"/>
              </a:rPr>
              <a:t>INTEGRATION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188" y="6278563"/>
            <a:ext cx="519112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00000-1234-1234-1234-123412341234}" type="slidenum">
              <a:t>5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Crop health interface states</a:t>
            </a: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2032000"/>
            <a:ext cx="5537200" cy="16430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>
                <a:solidFill>
                  <a:srgbClr val="BCEF59"/>
                </a:solidFill>
              </a:rPr>
              <a:t>Input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</a:rPr>
              <a:t>The user selects Tomato, Potato, Maize or Grape and previews a PNG, JPG or WebP leaf image.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256618" y="2032000"/>
            <a:ext cx="5537200" cy="16430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>
                <a:solidFill>
                  <a:srgbClr val="BCEF59"/>
                </a:solidFill>
              </a:rPr>
              <a:t>Request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</a:rPr>
              <a:t>FormData sends image and crop_hint to POST /api/v1/health/predict.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BCEF59"/>
                </a:solidFill>
              </a:rPr>
              <a:t>Validated result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800"/>
              <a:t>The page shows label, confidence, model version, detected crop and supported conditions.</a:t>
            </a: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BCEF59"/>
                </a:solidFill>
              </a:rPr>
              <a:t>Safety state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800"/>
              <a:t>Low confidence, crop mismatch and invalid images receive clear review or rejection messages.</a:t>
            </a:r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Chatbot interface and live demo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0388" y="179792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>Browser responsibilities</a:t>
            </a:r>
            <a:endParaRPr/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>The UI sends questions and conversation IDs. It never handles the Gemini key.</a:t>
            </a: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388" y="3065806"/>
            <a:ext cx="4774279" cy="20608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700" b="0" i="0" u="none" cap="none" spc="0">
                <a:ln>
                  <a:noFill/>
                </a:ln>
              </a:rPr>
              <a:t>Messages appear as user and assistant bubbles. The loading state blocks duplicate requests, while backend errors appear without exposing provider secrets.</a:t>
            </a:r>
            <a:endParaRPr sz="1700" b="0" i="0" u="none" kern="1200" cap="none" spc="0" baseline="0">
              <a:ln>
                <a:noFill/>
              </a:ln>
            </a:endParaR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1D611070-583D-3F58-C192-8939D876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3" y="1722438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176A6DA9-A945-2CB8-E1DA-17DA3035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8" y="2017370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 lnSpcReduction="2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800"/>
              <a:t>Demo 1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800"/>
              <a:t>Upload a leaf and explain the preview, result details and safety warnings.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7A99370F-1C2A-C7A9-A2D7-8EC8D6F7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3" y="3734118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BB779E3-29A4-71DB-4059-EE4248BE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8" y="4029050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 lnSpcReduction="2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800"/>
              <a:t>Demo 2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800"/>
              <a:t>Ask one farming question, then ask a follow-up that reuses the conversation ID.</a:t>
            </a: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C152D0-CDF3-969A-A32E-0A1C97DA936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Member 2: Data processing</a:t>
            </a:r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9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/>
              <a:t>prepare_plantvillage.py converts source folder names into the project label scheme.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3749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BCEF59"/>
                </a:solidFill>
                <a:latin typeface="Inter Medium"/>
                <a:ea typeface="Inter Medium"/>
                <a:cs typeface="Inter Medium"/>
              </a:rPr>
              <a:t>Class mapping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5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/>
              <a:t>Seed 20260912 creates the same stratified 70, 15 and 15 percent split.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3655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BCEF59"/>
                </a:solidFill>
                <a:latin typeface="Inter Medium"/>
                <a:ea typeface="Inter Medium"/>
                <a:cs typeface="Inter Medium"/>
              </a:rPr>
              <a:t>Reproducible split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1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/>
              <a:t>7,427 images teach the classifier weights with random augmentation.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3561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BCEF59"/>
                </a:solidFill>
                <a:latin typeface="Inter Medium"/>
                <a:ea typeface="Inter Medium"/>
                <a:cs typeface="Inter Medium"/>
              </a:rPr>
              <a:t>Training set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/>
              <a:t>1,591 validation and 1,591 test images support selection and final evaluation.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53594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BCEF59"/>
                </a:solidFill>
                <a:latin typeface="Inter Medium"/>
                <a:ea typeface="Inter Medium"/>
                <a:cs typeface="Inter Medium"/>
              </a:rPr>
              <a:t>Holdout sets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1"/>
            <a:ext cx="35687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Inter Medium"/>
                <a:ea typeface="Inter Medium"/>
                <a:cs typeface="Inter Medium"/>
              </a:rPr>
              <a:t>PlantVillage subset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Inter Medium"/>
                <a:ea typeface="Inter Medium"/>
                <a:cs typeface="Inter Medium"/>
              </a:rPr>
              <a:t>10 labels cover healthy and selected disease classes for Tomato, Potato, Maize and Grape. Source folders map to fixed canonical labels and class indices.</a:t>
            </a:r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86FC0B29-995A-397B-C2F3-07F01F97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3152" y="2134181"/>
            <a:ext cx="3568700" cy="3709944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74A810-7A8E-054F-9F6B-09E9C694ECF9}" type="slidenum">
              <a:t>8</a:t>
            </a:fld>
            <a:endParaRPr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MobileNetV2 training lifecycle</a:t>
            </a:r>
          </a:p>
        </p:txBody>
      </p:sp>
      <p:cxnSp>
        <p:nvCxnSpPr>
          <p:cNvPr id="24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3373753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BCEF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EF59"/>
          </a:solidFill>
          <a:ln xmlns:a="http://schemas.openxmlformats.org/drawingml/2006/main">
            <a:solidFill>
              <a:srgbClr val="BCEF59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EF59"/>
          </a:solidFill>
          <a:ln xmlns:a="http://schemas.openxmlformats.org/drawingml/2006/main">
            <a:solidFill>
              <a:srgbClr val="BCEF59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EF59"/>
          </a:solidFill>
          <a:ln xmlns:a="http://schemas.openxmlformats.org/drawingml/2006/main">
            <a:solidFill>
              <a:srgbClr val="BCEF59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rgbClr val="BCEF59"/>
                </a:solidFill>
                <a:latin typeface="Inter SemiBold"/>
                <a:ea typeface="Inter SemiBold"/>
                <a:cs typeface="Inter SemiBold"/>
              </a:rPr>
              <a:t>STAGE 1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rgbClr val="BCEF59"/>
                </a:solidFill>
                <a:latin typeface="Inter SemiBold"/>
                <a:ea typeface="Inter SemiBold"/>
                <a:cs typeface="Inter SemiBold"/>
              </a:rPr>
              <a:t>STAGE 2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rgbClr val="BCEF59"/>
                </a:solidFill>
                <a:latin typeface="Inter SemiBold"/>
                <a:ea typeface="Inter SemiBold"/>
                <a:cs typeface="Inter SemiBold"/>
              </a:rPr>
              <a:t>STAGE 3</a:t>
            </a:r>
          </a:p>
        </p:txBody>
      </p:sp>
      <p:sp>
        <p:nvSpPr>
          <p:cNvPr id="8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D0EE3B6B-F07C-271E-2F97-41D7686F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8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Train classifier head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Freeze the feature extractor and train the new 10-class head for 3 epochs.</a:t>
            </a:r>
          </a:p>
        </p:txBody>
      </p:sp>
      <p:sp>
        <p:nvSpPr>
          <p:cNvPr id="15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B3EA0E10-C778-6971-AFB5-9B9B52B0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73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Prepare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Convert to RGB, build labels and load the deterministic manifest.</a:t>
            </a:r>
          </a:p>
        </p:txBody>
      </p:sp>
      <p:sp>
        <p:nvSpPr>
          <p:cNvPr id="19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5A9F39A9-7A23-0F85-F761-1AB9FA6B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917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Fine-tune and evaluate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Unfreeze the final four feature blocks for 7 epochs. Select by validation macro-F1, then test once.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595FF69-AA88-8653-2D13-3E0289A1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3AFD29D-9AD2-841D-0915-B4BDDC09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A10D6BE-4B8A-E31D-9AC6-AEB4FCD5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908090F4-C2CE-1329-8725-AC98A6AF8F6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00000-1234-1234-1234-123412341234}" type="slidenum">
              <a:t>9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64EBD68-6C7C-E1E5-F754-A2CABD28D4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evaluation</a:t>
            </a:r>
            <a:endParaRPr/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8352425-466B-B7C0-4556-B12F3F4F6DB3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02413" y="4900613"/>
            <a:ext cx="2949575" cy="8191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Independent test accuracy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D1B4876-C319-B371-36B9-745CADB662E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541859" y="4900613"/>
            <a:ext cx="2949575" cy="8191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Median CPU inference latency</a:t>
            </a:r>
          </a:p>
        </p:txBody>
      </p:sp>
      <p:sp>
        <p:nvSpPr>
          <p:cNvPr id="12" name="Content Placeholder 11">
            <a:extLst xmlns:a="http://schemas.openxmlformats.org/drawingml/2006/main">
              <a:ext uri="{FF2B5EF4-FFF2-40B4-BE49-F238E27FC236}">
                <a16:creationId xmlns:a16="http://schemas.microsoft.com/office/drawing/2014/main" id="{1BDFAF15-9B61-BA2E-0381-0DE8F578A81F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621211" y="4900613"/>
            <a:ext cx="2949575" cy="8191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Test macro-F1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DBA9068-3E52-4988-B608-4CED930E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13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7000" b="0" i="0" u="none" cap="none" spc="0">
                <a:ln>
                  <a:noFill/>
                </a:ln>
                <a:solidFill>
                  <a:srgbClr val="BCEF59"/>
                </a:solidFill>
                <a:latin typeface="Helvetica Neue"/>
                <a:ea typeface="Helvetica Neue"/>
                <a:cs typeface="Helvetica Neue"/>
              </a:rPr>
              <a:t>98.68%</a:t>
            </a:r>
            <a:endParaRPr sz="7000">
              <a:solidFill>
                <a:srgbClr val="BCEF59"/>
              </a:solidFill>
            </a:endParaRP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53D01BD-BEDA-E1D7-8112-CCD78E0B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32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7000" b="0" i="0" u="none" cap="none" spc="0">
                <a:ln>
                  <a:noFill/>
                </a:ln>
                <a:solidFill>
                  <a:srgbClr val="BCEF59"/>
                </a:solidFill>
                <a:latin typeface="Helvetica Neue"/>
                <a:ea typeface="Helvetica Neue"/>
                <a:cs typeface="Helvetica Neue"/>
              </a:rPr>
              <a:t>98.63%</a:t>
            </a:r>
            <a:endParaRPr sz="7000">
              <a:solidFill>
                <a:srgbClr val="BCEF59"/>
              </a:solidFill>
            </a:endParaRPr>
          </a:p>
        </p:txBody>
      </p:sp>
      <p:sp>
        <p:nvSpPr>
          <p:cNvPr id="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AE7C386-15B3-0C22-BD29-DB00B9F7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362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89309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7000" b="0" i="0" u="none" cap="none" spc="0">
                <a:ln>
                  <a:noFill/>
                </a:ln>
                <a:solidFill>
                  <a:srgbClr val="BCEF59"/>
                </a:solidFill>
                <a:latin typeface="Helvetica Neue"/>
                <a:ea typeface="Helvetica Neue"/>
                <a:cs typeface="Helvetica Neue"/>
              </a:rPr>
              <a:t>40.85 ms</a:t>
            </a:r>
            <a:endParaRPr sz="7000">
              <a:solidFill>
                <a:srgbClr val="BCEF59"/>
              </a:solidFill>
            </a:endParaRP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E38982-B0CA-BEBE-C656-B7F62835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38300"/>
            <a:ext cx="11404599" cy="15994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latin typeface="Helvetica Neue Medium"/>
                <a:ea typeface="Helvetica Neue Medium"/>
                <a:cs typeface="Helvetica Neue Medium"/>
              </a:rPr>
              <a:t>Controlled PlantVillage benchmark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The best checkpoint uses validation macro-F1. Independent test metrics measure classification quality, while CPU latency measures local inference speed. These figures do not establish accuracy on field photographs.</a:t>
            </a:r>
          </a:p>
        </p:txBody>
      </p:sp>
      <p:sp>
        <p:nvSpPr>
          <p:cNvPr id="9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7472BC53-6948-EE0F-E8E5-5488EF53DF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236961682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F06ADB7A-E0CB-A418-3590-620B0C5F17E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9EE8A1CA-4617-FF10-E8D0-B582B7F48A8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10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68499D35-F61B-DF1C-10A6-EA04E8D006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792557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Member 3: FastAPI request pipelines</a:t>
            </a:r>
          </a:p>
        </p:txBody>
      </p:sp>
      <p:graphicFrame>
        <p:nvGraphicFramePr>
          <p:cNvPr id="538" name="Google Shape;953;p80"/>
          <p:cNvGraphicFramePr/>
          <p:nvPr/>
        </p:nvGraphicFramePr>
        <p:xfrm>
          <a:off xmlns:a="http://schemas.openxmlformats.org/drawingml/2006/main" x="393699" y="1245705"/>
          <a:ext xmlns:a="http://schemas.openxmlformats.org/drawingml/2006/main" cx="11404600" cy="472219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0920"/>
                <a:gridCol w="2280920"/>
                <a:gridCol w="2280920"/>
                <a:gridCol w="2280920"/>
                <a:gridCol w="2280920"/>
              </a:tblGrid>
              <a:tr h="4722192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Browser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9050" cmpd="sng">
                      <a:solidFill>
                        <a:srgbClr val="284638"/>
                      </a:solidFill>
                      <a:prstDash val="solid"/>
                    </a:lnL>
                    <a:lnR w="19050" cmpd="sng">
                      <a:solidFill>
                        <a:srgbClr val="284638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FastAPI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9050" cmpd="sng">
                      <a:solidFill>
                        <a:srgbClr val="284638"/>
                      </a:solidFill>
                      <a:prstDash val="solid"/>
                    </a:lnL>
                    <a:lnR w="19050" cmpd="sng">
                      <a:solidFill>
                        <a:srgbClr val="284638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AI service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9050" cmpd="sng">
                      <a:solidFill>
                        <a:srgbClr val="284638"/>
                      </a:solidFill>
                      <a:prstDash val="solid"/>
                    </a:lnL>
                    <a:lnR w="19050" cmpd="sng">
                      <a:solidFill>
                        <a:srgbClr val="284638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PostgreSQL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9050" cmpd="sng">
                      <a:solidFill>
                        <a:srgbClr val="284638"/>
                      </a:solidFill>
                      <a:prstDash val="solid"/>
                    </a:lnL>
                    <a:lnR w="19050" cmpd="sng">
                      <a:solidFill>
                        <a:srgbClr val="284638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Response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9050" cmpd="sng">
                      <a:solidFill>
                        <a:srgbClr val="284638"/>
                      </a:solidFill>
                      <a:prstDash val="solid"/>
                    </a:lnL>
                    <a:lnR w="19050" cmpd="sng">
                      <a:solidFill>
                        <a:srgbClr val="284638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Google Shape;955;p80">
            <a:extLst xmlns:a="http://schemas.openxmlformats.org/drawingml/2006/main">
              <a:ext uri="{FF2B5EF4-FFF2-40B4-BE49-F238E27FC236}">
                <a16:creationId xmlns:a16="http://schemas.microsoft.com/office/drawing/2014/main" id="{EA32D89C-6778-2FE2-6D40-ABA6EAAD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718" y="4107740"/>
            <a:ext cx="4562665" cy="513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chemeClr val="bg1"/>
                </a:solidFill>
                <a:latin typeface="Inter SemiBold"/>
                <a:ea typeface="Inter SemiBold"/>
                <a:cs typeface="Inter SemiBold"/>
              </a:rPr>
              <a:t>Gemini chat + context</a:t>
            </a:r>
          </a:p>
        </p:txBody>
      </p:sp>
      <p:sp>
        <p:nvSpPr>
          <p:cNvPr id="6" name="Google Shape;957;p80">
            <a:extLst xmlns:a="http://schemas.openxmlformats.org/drawingml/2006/main">
              <a:ext uri="{FF2B5EF4-FFF2-40B4-BE49-F238E27FC236}">
                <a16:creationId xmlns:a16="http://schemas.microsoft.com/office/drawing/2014/main" id="{D5359B3A-662D-9283-F7D8-9D5DCD65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93" y="5478390"/>
            <a:ext cx="11026708" cy="513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 b="1">
                <a:latin typeface="Inter SemiBold"/>
                <a:ea typeface="Inter SemiBold"/>
                <a:cs typeface="Inter SemiBold"/>
              </a:rPr>
              <a:t>Transactions commit on success and roll back on failure</a:t>
            </a:r>
            <a:endParaRPr sz="1500" b="1">
              <a:latin typeface="Inter SemiBold"/>
              <a:ea typeface="Inter SemiBold"/>
              <a:cs typeface="Inter SemiBold"/>
            </a:endParaRPr>
          </a:p>
        </p:txBody>
      </p:sp>
      <p:sp>
        <p:nvSpPr>
          <p:cNvPr id="7" name="Google Shape;960;p80">
            <a:extLst xmlns:a="http://schemas.openxmlformats.org/drawingml/2006/main">
              <a:ext uri="{FF2B5EF4-FFF2-40B4-BE49-F238E27FC236}">
                <a16:creationId xmlns:a16="http://schemas.microsoft.com/office/drawing/2014/main" id="{2293B6C0-CD6E-C9F0-68F7-73F7B726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2794" y="4754965"/>
            <a:ext cx="4088008" cy="513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CEF5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chemeClr val="bg1"/>
                </a:solidFill>
                <a:latin typeface="Inter SemiBold"/>
                <a:ea typeface="Inter SemiBold"/>
                <a:cs typeface="Inter SemiBold"/>
              </a:rPr>
              <a:t>Persist + return JSON</a:t>
            </a:r>
          </a:p>
        </p:txBody>
      </p:sp>
      <p:sp>
        <p:nvSpPr>
          <p:cNvPr id="8" name="Google Shape;963;p80">
            <a:extLst xmlns:a="http://schemas.openxmlformats.org/drawingml/2006/main">
              <a:ext uri="{FF2B5EF4-FFF2-40B4-BE49-F238E27FC236}">
                <a16:creationId xmlns:a16="http://schemas.microsoft.com/office/drawing/2014/main" id="{0F4F3439-EC29-4518-4A3E-7436F857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968" y="3403140"/>
            <a:ext cx="8790833" cy="513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chemeClr val="bg1"/>
                </a:solidFill>
                <a:latin typeface="Inter SemiBold"/>
                <a:ea typeface="Inter SemiBold"/>
                <a:cs typeface="Inter SemiBold"/>
              </a:rPr>
              <a:t>Validation + MobileNetV2</a:t>
            </a:r>
          </a:p>
        </p:txBody>
      </p:sp>
      <p:sp>
        <p:nvSpPr>
          <p:cNvPr id="9" name="Google Shape;966;p80">
            <a:extLst xmlns:a="http://schemas.openxmlformats.org/drawingml/2006/main">
              <a:ext uri="{FF2B5EF4-FFF2-40B4-BE49-F238E27FC236}">
                <a16:creationId xmlns:a16="http://schemas.microsoft.com/office/drawing/2014/main" id="{1D07E5FD-0BEC-93D6-2CF5-BC908A51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968" y="2698515"/>
            <a:ext cx="6408538" cy="513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chemeClr val="bg1"/>
                </a:solidFill>
                <a:latin typeface="Inter SemiBold"/>
                <a:ea typeface="Inter SemiBold"/>
                <a:cs typeface="Inter SemiBold"/>
              </a:rPr>
              <a:t>Leaf upload + crop hint</a:t>
            </a:r>
          </a:p>
        </p:txBody>
      </p:sp>
      <p:sp>
        <p:nvSpPr>
          <p:cNvPr id="10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0AB147C5-D3F9-0847-C2A5-2A90154B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893" y="1975090"/>
            <a:ext cx="4185180" cy="513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CEF5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chemeClr val="bg1"/>
                </a:solidFill>
                <a:latin typeface="Inter SemiBold"/>
                <a:ea typeface="Inter SemiBold"/>
                <a:cs typeface="Inter SemiBold"/>
              </a:rPr>
              <a:t>Health check</a:t>
            </a:r>
            <a:endParaRPr sz="1500" b="1">
              <a:solidFill>
                <a:schemeClr val="bg1"/>
              </a:solidFill>
              <a:latin typeface="Inter SemiBold"/>
              <a:ea typeface="Inter SemiBold"/>
              <a:cs typeface="Inter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43517153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Footer Placeholder 22">
            <a:extLst xmlns:a="http://schemas.openxmlformats.org/drawingml/2006/main">
              <a:ext uri="{FF2B5EF4-FFF2-40B4-BE49-F238E27FC236}">
                <a16:creationId xmlns:a16="http://schemas.microsoft.com/office/drawing/2014/main" id="{AD97F9EA-012C-21EB-B59E-E7F4EA1900F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0AF45DF-4338-2F83-4089-BDD9581316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11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E4D2BBD2-B9DC-C05C-151C-46086B5BA5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Database, Docker and startup</a:t>
            </a:r>
          </a:p>
        </p:txBody>
      </p:sp>
      <p:graphicFrame>
        <p:nvGraphicFramePr>
          <p:cNvPr id="538" name="Google Shape;953;p80"/>
          <p:cNvGraphicFramePr/>
          <p:nvPr/>
        </p:nvGraphicFramePr>
        <p:xfrm>
          <a:off xmlns:a="http://schemas.openxmlformats.org/drawingml/2006/main" x="393700" y="822085"/>
          <a:ext xmlns:a="http://schemas.openxmlformats.org/drawingml/2006/main" cx="11404600" cy="535011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0920"/>
                <a:gridCol w="2280920"/>
                <a:gridCol w="2280920"/>
                <a:gridCol w="2280920"/>
                <a:gridCol w="2280920"/>
              </a:tblGrid>
              <a:tr h="449963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Docker</a:t>
                      </a: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PostgreSQL</a:t>
                      </a: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Alembic</a:t>
                      </a: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Secrets</a:t>
                      </a: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Demo</a:t>
                      </a: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225038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225038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225038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225038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A122CFB3-561F-F57A-0D76-5F64F78E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946" y="1633394"/>
            <a:ext cx="2004054" cy="339939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CEF5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chemeClr val="bg1"/>
                </a:solidFill>
                <a:latin typeface="Inter SemiBold"/>
                <a:ea typeface="Inter SemiBold"/>
                <a:cs typeface="Inter SemiBold"/>
              </a:rPr>
              <a:t>pgvector image</a:t>
            </a:r>
          </a:p>
        </p:txBody>
      </p:sp>
      <p:sp>
        <p:nvSpPr>
          <p:cNvPr id="5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C931B0DD-E0CC-3A4D-1652-DEF41244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946" y="2039794"/>
            <a:ext cx="2004054" cy="339939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CEF5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chemeClr val="bg1"/>
                </a:solidFill>
                <a:latin typeface="Inter SemiBold"/>
                <a:ea typeface="Inter SemiBold"/>
                <a:cs typeface="Inter SemiBold"/>
              </a:rPr>
              <a:t>health check</a:t>
            </a:r>
          </a:p>
        </p:txBody>
      </p:sp>
      <p:sp>
        <p:nvSpPr>
          <p:cNvPr id="6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55193150-005D-DDAC-ACAE-A50653E1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246" y="1788470"/>
            <a:ext cx="2004054" cy="339939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CEF5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chemeClr val="bg1"/>
                </a:solidFill>
                <a:latin typeface="Inter SemiBold"/>
                <a:ea typeface="Inter SemiBold"/>
                <a:cs typeface="Inter SemiBold"/>
              </a:rPr>
              <a:t>port 5432</a:t>
            </a:r>
            <a:endParaRPr sz="1100" b="1">
              <a:solidFill>
                <a:schemeClr val="bg1"/>
              </a:solidFill>
              <a:latin typeface="Inter SemiBold"/>
              <a:ea typeface="Inter SemiBold"/>
              <a:cs typeface="Inter SemiBold"/>
            </a:endParaRPr>
          </a:p>
        </p:txBody>
      </p:sp>
      <p:sp>
        <p:nvSpPr>
          <p:cNvPr id="9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E6450C44-6EBB-C6EE-22ED-5AD1B797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946" y="4257498"/>
            <a:ext cx="2004054" cy="339939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CEF5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chemeClr val="bg1"/>
                </a:solidFill>
                <a:latin typeface="Inter SemiBold"/>
                <a:ea typeface="Inter SemiBold"/>
                <a:cs typeface="Inter SemiBold"/>
              </a:rPr>
              <a:t>upgrade head</a:t>
            </a:r>
          </a:p>
        </p:txBody>
      </p:sp>
      <p:sp>
        <p:nvSpPr>
          <p:cNvPr id="10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514ABA49-AA4D-75E4-06B4-7B2D65B6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8546" y="4257498"/>
            <a:ext cx="2004054" cy="339939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CEF5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chemeClr val="bg1"/>
                </a:solidFill>
                <a:latin typeface="Inter SemiBold"/>
                <a:ea typeface="Inter SemiBold"/>
                <a:cs typeface="Inter SemiBold"/>
              </a:rPr>
              <a:t>.env only</a:t>
            </a:r>
          </a:p>
        </p:txBody>
      </p:sp>
      <p:sp>
        <p:nvSpPr>
          <p:cNvPr id="14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0A803CC6-DD7B-E7CD-2227-ACC292A5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1946" y="5458770"/>
            <a:ext cx="2004054" cy="339939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CEF5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chemeClr val="bg1"/>
                </a:solidFill>
                <a:latin typeface="Inter SemiBold"/>
                <a:ea typeface="Inter SemiBold"/>
                <a:cs typeface="Inter SemiBold"/>
              </a:rPr>
              <a:t>API docs</a:t>
            </a:r>
          </a:p>
        </p:txBody>
      </p:sp>
    </p:spTree>
    <p:extLst>
      <p:ext uri="{BB962C8B-B14F-4D97-AF65-F5344CB8AC3E}">
        <p14:creationId xmlns:p14="http://schemas.microsoft.com/office/powerpoint/2010/main" val="429120901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1F94652D-58EE-6496-27FC-88868633C2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371600" y="2066174"/>
            <a:ext cx="9448800" cy="220368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solidFill>
                  <a:srgbClr val="BCEF59"/>
                </a:solidFill>
              </a:rPr>
              <a:t>A traceable platform</a:t>
            </a:r>
          </a:p>
          <a:p xmlns:a="http://schemas.openxmlformats.org/drawingml/2006/main">
            <a:pPr algn="ctr">
              <a:buNone/>
            </a:pPr>
            <a:r>
              <a:rPr sz="7200">
                <a:solidFill>
                  <a:srgbClr val="BCEF59"/>
                </a:solidFill>
              </a:rPr>
              <a:t>for two AI modules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7A15B0DD-3ED8-37CA-9675-F348EABF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1605" y="4874716"/>
            <a:ext cx="7267329" cy="6911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200">
                <a:latin typeface="Inter Medium"/>
                <a:ea typeface="Inter Medium"/>
                <a:cs typeface="Inter Medium"/>
              </a:rPr>
              <a:t>FastAPI coordinates validation, AI calls and database writes. Docker makes the database reproducible.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64FF5F30-1F7D-7291-7074-4D9972C8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264" y="1096027"/>
            <a:ext cx="2604013" cy="48881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tx1">
              <a:alpha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chemeClr val="tx1"/>
                </a:solidFill>
                <a:latin typeface="Inter SemiBold"/>
                <a:ea typeface="Inter SemiBold"/>
                <a:cs typeface="Inter SemiBold"/>
              </a:rPr>
              <a:t>MEMBER 3 SUMMARY</a:t>
            </a:r>
          </a:p>
        </p:txBody>
      </p:sp>
    </p:spTree>
    <p:extLst>
      <p:ext uri="{BB962C8B-B14F-4D97-AF65-F5344CB8AC3E}">
        <p14:creationId xmlns:p14="http://schemas.microsoft.com/office/powerpoint/2010/main" val="2385373601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2026-09-15T16:23:15.9880000Z</dcterms:created>
  <dcterms:modified xsi:type="dcterms:W3CDTF">2026-09-15T16:23:15.9880000Z</dcterms:modified>
</coreProperties>
</file>